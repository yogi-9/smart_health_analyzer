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4" d="100"/>
          <a:sy n="84" d="100"/>
        </p:scale>
        <p:origin x="629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副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版式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hidden="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66800" y="1519531"/>
            <a:ext cx="8839200" cy="326644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rmAutofit/>
          </a:bodyPr>
          <a:lstStyle/>
          <a:p>
            <a:pPr marL="0" indent="0" algn="l" fontAlgn="auto">
              <a:lnSpc>
                <a:spcPct val="120000"/>
              </a:lnSpc>
              <a:defRPr/>
            </a:pPr>
            <a:r>
              <a:rPr lang="en-US" sz="6000" b="1" i="0" u="none" spc="200" baseline="0" dirty="0">
                <a:solidFill>
                  <a:schemeClr val="bg2"/>
                </a:solidFill>
                <a:latin typeface="思源黑体 Medium"/>
                <a:ea typeface="思源黑体 Medium"/>
              </a:rPr>
              <a:t>Smart Health Analyzer:</a:t>
            </a:r>
            <a:endParaRPr lang="en-US" sz="1100" dirty="0"/>
          </a:p>
        </p:txBody>
      </p:sp>
      <p:sp>
        <p:nvSpPr>
          <p:cNvPr id="3" name="TextBox 3"/>
          <p:cNvSpPr txBox="1"/>
          <p:nvPr/>
        </p:nvSpPr>
        <p:spPr>
          <a:xfrm>
            <a:off x="1066800" y="3810000"/>
            <a:ext cx="3099435" cy="369332"/>
          </a:xfrm>
          <a:prstGeom prst="rect">
            <a:avLst/>
          </a:prstGeom>
          <a:grpFill/>
          <a:ln>
            <a:noFill/>
          </a:ln>
        </p:spPr>
        <p:txBody>
          <a:bodyPr vert="horz" wrap="square" lIns="91440" tIns="45720" rIns="91440" bIns="45720" rtlCol="0" anchor="t">
            <a:spAutoFit/>
          </a:bodyPr>
          <a:lstStyle/>
          <a:p>
            <a:pPr marL="0" algn="l">
              <a:defRPr/>
            </a:pPr>
            <a:r>
              <a:rPr lang="en-US" dirty="0"/>
              <a:t>Yogi Panchal-24DCE082</a:t>
            </a:r>
          </a:p>
        </p:txBody>
      </p:sp>
      <p:sp>
        <p:nvSpPr>
          <p:cNvPr id="4" name="AutoShape 4"/>
          <p:cNvSpPr/>
          <p:nvPr/>
        </p:nvSpPr>
        <p:spPr>
          <a:xfrm>
            <a:off x="4879948" y="4785971"/>
            <a:ext cx="3305810" cy="368300"/>
          </a:xfrm>
          <a:prstGeom prst="rect">
            <a:avLst/>
          </a:prstGeom>
          <a:grp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/>
            <a:endParaRPr lang="en-US" sz="1800" b="0" i="0" u="none" baseline="0" dirty="0">
              <a:solidFill>
                <a:schemeClr val="bg1"/>
              </a:solidFill>
              <a:latin typeface="思源黑体 Normal"/>
              <a:ea typeface="思源黑体 Normal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Created By AI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17820" y="1661795"/>
            <a:ext cx="6407785" cy="647700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b="0" i="0" u="none" baseline="0">
                <a:solidFill>
                  <a:schemeClr val="bg2"/>
                </a:solidFill>
                <a:latin typeface="思源黑体 Normal"/>
                <a:ea typeface="思源黑体 Normal"/>
              </a:rPr>
              <a:t>Introduction and Problem Statement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4207510" y="1558290"/>
            <a:ext cx="997585" cy="870585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3200" b="0" i="0" u="none" baseline="0">
                <a:solidFill>
                  <a:schemeClr val="bg2"/>
                </a:solidFill>
                <a:latin typeface="思源黑体 Normal"/>
                <a:ea typeface="思源黑体 Normal"/>
              </a:rPr>
              <a:t>01</a:t>
            </a:r>
            <a:endParaRPr lang="en-US" sz="1100"/>
          </a:p>
        </p:txBody>
      </p:sp>
      <p:sp>
        <p:nvSpPr>
          <p:cNvPr id="4" name="TextBox 4"/>
          <p:cNvSpPr txBox="1"/>
          <p:nvPr/>
        </p:nvSpPr>
        <p:spPr>
          <a:xfrm>
            <a:off x="5417820" y="2420620"/>
            <a:ext cx="6407785" cy="647700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b="0" i="0" u="none" baseline="0">
                <a:solidFill>
                  <a:schemeClr val="bg2"/>
                </a:solidFill>
                <a:latin typeface="思源黑体 Normal"/>
                <a:ea typeface="思源黑体 Normal"/>
              </a:rPr>
              <a:t>Technology Stack and System Architecture</a:t>
            </a:r>
            <a:endParaRPr lang="en-US" sz="1100"/>
          </a:p>
        </p:txBody>
      </p:sp>
      <p:sp>
        <p:nvSpPr>
          <p:cNvPr id="5" name="TextBox 5"/>
          <p:cNvSpPr txBox="1"/>
          <p:nvPr/>
        </p:nvSpPr>
        <p:spPr>
          <a:xfrm>
            <a:off x="4207510" y="2289175"/>
            <a:ext cx="997585" cy="870585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3200" b="0" i="0" u="none" baseline="0">
                <a:solidFill>
                  <a:schemeClr val="bg2"/>
                </a:solidFill>
                <a:latin typeface="思源黑体 Normal"/>
                <a:ea typeface="思源黑体 Normal"/>
              </a:rPr>
              <a:t>02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5417820" y="3150870"/>
            <a:ext cx="6407785" cy="647700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b="0" i="0" u="none" baseline="0">
                <a:solidFill>
                  <a:schemeClr val="bg2"/>
                </a:solidFill>
                <a:latin typeface="思源黑体 Normal"/>
                <a:ea typeface="思源黑体 Normal"/>
              </a:rPr>
              <a:t>Core Modules and Functionality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4207510" y="3047365"/>
            <a:ext cx="997585" cy="870585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3200" b="0" i="0" u="none" baseline="0">
                <a:solidFill>
                  <a:schemeClr val="bg2"/>
                </a:solidFill>
                <a:latin typeface="思源黑体 Normal"/>
                <a:ea typeface="思源黑体 Normal"/>
              </a:rPr>
              <a:t>03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5417820" y="3881120"/>
            <a:ext cx="6407785" cy="647700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b="0" i="0" u="none" baseline="0">
                <a:solidFill>
                  <a:schemeClr val="bg2"/>
                </a:solidFill>
                <a:latin typeface="思源黑体 Normal"/>
                <a:ea typeface="思源黑体 Normal"/>
              </a:rPr>
              <a:t>Database Design, Challenges, and Security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4207510" y="3777615"/>
            <a:ext cx="997585" cy="870585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3200" b="0" i="0" u="none" baseline="0">
                <a:solidFill>
                  <a:schemeClr val="bg2"/>
                </a:solidFill>
                <a:latin typeface="思源黑体 Normal"/>
                <a:ea typeface="思源黑体 Normal"/>
              </a:rPr>
              <a:t>04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5417820" y="4613275"/>
            <a:ext cx="6407785" cy="647700"/>
          </a:xfrm>
          <a:prstGeom prst="rect">
            <a:avLst/>
          </a:prstGeom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spcBef>
                <a:spcPct val="0"/>
              </a:spcBef>
              <a:defRPr/>
            </a:pPr>
            <a:r>
              <a:rPr lang="en-US" sz="2400" b="0" i="0" u="none" baseline="0">
                <a:solidFill>
                  <a:schemeClr val="bg2"/>
                </a:solidFill>
                <a:latin typeface="思源黑体 Normal"/>
                <a:ea typeface="思源黑体 Normal"/>
              </a:rPr>
              <a:t>Live Demo Plan and Future Scope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4207510" y="4509770"/>
            <a:ext cx="997585" cy="870585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defRPr/>
            </a:pPr>
            <a:r>
              <a:rPr lang="en-US" sz="3200" b="0" i="0" u="none" baseline="0">
                <a:solidFill>
                  <a:schemeClr val="bg2"/>
                </a:solidFill>
                <a:latin typeface="思源黑体 Normal"/>
                <a:ea typeface="思源黑体 Normal"/>
              </a:rPr>
              <a:t>05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684122" y="2987797"/>
            <a:ext cx="3427776" cy="129025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ctr" fontAlgn="auto">
              <a:lnSpc>
                <a:spcPct val="96000"/>
              </a:lnSpc>
              <a:defRPr/>
            </a:pPr>
            <a:r>
              <a:rPr lang="en-US" sz="6640" b="1" i="0" u="none" spc="-442" baseline="0">
                <a:solidFill>
                  <a:schemeClr val="bg2"/>
                </a:solidFill>
                <a:latin typeface="思源宋体 CN Light"/>
                <a:ea typeface="思源宋体 CN Light"/>
              </a:rPr>
              <a:t>Contents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58832" y="1752600"/>
            <a:ext cx="7894320" cy="18262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4000" b="0" i="0" u="none" baseline="0" dirty="0">
                <a:solidFill>
                  <a:schemeClr val="bg2"/>
                </a:solidFill>
                <a:latin typeface="思源黑体 Medium"/>
                <a:ea typeface="思源黑体 Medium"/>
              </a:rPr>
              <a:t>Introduction and Problem Statement</a:t>
            </a:r>
            <a:endParaRPr lang="en-US" sz="4000" dirty="0"/>
          </a:p>
        </p:txBody>
      </p:sp>
      <p:sp>
        <p:nvSpPr>
          <p:cNvPr id="3" name="TextBox 3"/>
          <p:cNvSpPr txBox="1"/>
          <p:nvPr/>
        </p:nvSpPr>
        <p:spPr>
          <a:xfrm>
            <a:off x="5638800" y="950469"/>
            <a:ext cx="3334385" cy="101600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algn="ctr">
              <a:defRPr/>
            </a:pPr>
            <a:r>
              <a:rPr lang="en-US" sz="6600" b="0" i="0" u="none" baseline="0" dirty="0">
                <a:solidFill>
                  <a:schemeClr val="bg2"/>
                </a:solidFill>
                <a:latin typeface="思源黑体 Medium"/>
                <a:ea typeface="思源黑体 Medium"/>
              </a:rPr>
              <a:t>-01-</a:t>
            </a:r>
            <a:endParaRPr lang="en-US" sz="1100" dirty="0"/>
          </a:p>
        </p:txBody>
      </p:sp>
    </p:spTree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28.jpeg"/>
          <p:cNvPicPr>
            <a:picLocks noChangeAspect="1"/>
          </p:cNvPicPr>
          <p:nvPr/>
        </p:nvPicPr>
        <p:blipFill rotWithShape="1">
          <a:blip r:embed="rId2"/>
          <a:srcRect l="13151" r="13151"/>
          <a:stretch>
            <a:fillRect/>
          </a:stretch>
        </p:blipFill>
        <p:spPr>
          <a:xfrm>
            <a:off x="6004174" y="1368345"/>
            <a:ext cx="1439437" cy="1302764"/>
          </a:xfrm>
          <a:custGeom>
            <a:avLst/>
            <a:gdLst/>
            <a:ahLst/>
            <a:cxnLst/>
            <a:rect l="0" t="0" r="0" b="0"/>
            <a:pathLst>
              <a:path w="1425600" h="1290241">
                <a:moveTo>
                  <a:pt x="462793" y="0"/>
                </a:moveTo>
                <a:cubicBezTo>
                  <a:pt x="540422" y="1"/>
                  <a:pt x="885162" y="1"/>
                  <a:pt x="962791" y="0"/>
                </a:cubicBezTo>
                <a:cubicBezTo>
                  <a:pt x="1040421" y="1"/>
                  <a:pt x="1107663" y="38813"/>
                  <a:pt x="1146479" y="106041"/>
                </a:cubicBezTo>
                <a:cubicBezTo>
                  <a:pt x="1185294" y="173270"/>
                  <a:pt x="1357666" y="471822"/>
                  <a:pt x="1396481" y="539051"/>
                </a:cubicBezTo>
                <a:cubicBezTo>
                  <a:pt x="1435296" y="606280"/>
                  <a:pt x="1435313" y="683934"/>
                  <a:pt x="1396498" y="751162"/>
                </a:cubicBezTo>
                <a:cubicBezTo>
                  <a:pt x="1357683" y="818391"/>
                  <a:pt x="1185310" y="1116943"/>
                  <a:pt x="1146496" y="1184171"/>
                </a:cubicBezTo>
                <a:cubicBezTo>
                  <a:pt x="1107681" y="1251401"/>
                  <a:pt x="1040438" y="1290242"/>
                  <a:pt x="962809" y="1290241"/>
                </a:cubicBezTo>
                <a:cubicBezTo>
                  <a:pt x="885180" y="1290242"/>
                  <a:pt x="540440" y="1290242"/>
                  <a:pt x="462811" y="1290241"/>
                </a:cubicBezTo>
                <a:cubicBezTo>
                  <a:pt x="385181" y="1290242"/>
                  <a:pt x="317938" y="1251430"/>
                  <a:pt x="279123" y="1184201"/>
                </a:cubicBezTo>
                <a:cubicBezTo>
                  <a:pt x="240308" y="1116972"/>
                  <a:pt x="67936" y="818420"/>
                  <a:pt x="29120" y="751191"/>
                </a:cubicBezTo>
                <a:cubicBezTo>
                  <a:pt x="-9695" y="683963"/>
                  <a:pt x="-9711" y="606309"/>
                  <a:pt x="29104" y="539080"/>
                </a:cubicBezTo>
                <a:cubicBezTo>
                  <a:pt x="67919" y="471851"/>
                  <a:pt x="240291" y="173300"/>
                  <a:pt x="279106" y="106070"/>
                </a:cubicBezTo>
                <a:cubicBezTo>
                  <a:pt x="317921" y="38843"/>
                  <a:pt x="385163" y="1"/>
                  <a:pt x="462793" y="0"/>
                </a:cubicBezTo>
                <a:close/>
              </a:path>
            </a:pathLst>
          </a:custGeom>
          <a:ln w="76200">
            <a:solidFill>
              <a:schemeClr val="accent1"/>
            </a:solidFill>
          </a:ln>
        </p:spPr>
      </p:pic>
      <p:pic>
        <p:nvPicPr>
          <p:cNvPr id="3" name="image6.jpeg"/>
          <p:cNvPicPr>
            <a:picLocks noChangeAspect="1"/>
          </p:cNvPicPr>
          <p:nvPr/>
        </p:nvPicPr>
        <p:blipFill rotWithShape="1">
          <a:blip r:embed="rId3"/>
          <a:srcRect l="14272" r="14272"/>
          <a:stretch>
            <a:fillRect/>
          </a:stretch>
        </p:blipFill>
        <p:spPr>
          <a:xfrm>
            <a:off x="4686880" y="2172879"/>
            <a:ext cx="1439437" cy="1302764"/>
          </a:xfrm>
          <a:custGeom>
            <a:avLst/>
            <a:gdLst/>
            <a:ahLst/>
            <a:cxnLst/>
            <a:rect l="0" t="0" r="0" b="0"/>
            <a:pathLst>
              <a:path w="1425600" h="1290241">
                <a:moveTo>
                  <a:pt x="462793" y="0"/>
                </a:moveTo>
                <a:cubicBezTo>
                  <a:pt x="540422" y="1"/>
                  <a:pt x="885162" y="1"/>
                  <a:pt x="962791" y="0"/>
                </a:cubicBezTo>
                <a:cubicBezTo>
                  <a:pt x="1040421" y="1"/>
                  <a:pt x="1107663" y="38813"/>
                  <a:pt x="1146479" y="106041"/>
                </a:cubicBezTo>
                <a:cubicBezTo>
                  <a:pt x="1185294" y="173271"/>
                  <a:pt x="1357666" y="471822"/>
                  <a:pt x="1396481" y="539051"/>
                </a:cubicBezTo>
                <a:cubicBezTo>
                  <a:pt x="1435296" y="606280"/>
                  <a:pt x="1435313" y="683934"/>
                  <a:pt x="1396498" y="751162"/>
                </a:cubicBezTo>
                <a:cubicBezTo>
                  <a:pt x="1357683" y="818391"/>
                  <a:pt x="1185310" y="1116943"/>
                  <a:pt x="1146496" y="1184171"/>
                </a:cubicBezTo>
                <a:cubicBezTo>
                  <a:pt x="1107681" y="1251401"/>
                  <a:pt x="1040438" y="1290242"/>
                  <a:pt x="962809" y="1290241"/>
                </a:cubicBezTo>
                <a:cubicBezTo>
                  <a:pt x="885180" y="1290242"/>
                  <a:pt x="540440" y="1290242"/>
                  <a:pt x="462811" y="1290241"/>
                </a:cubicBezTo>
                <a:cubicBezTo>
                  <a:pt x="385181" y="1290242"/>
                  <a:pt x="317938" y="1251430"/>
                  <a:pt x="279123" y="1184201"/>
                </a:cubicBezTo>
                <a:cubicBezTo>
                  <a:pt x="240308" y="1116972"/>
                  <a:pt x="67936" y="818420"/>
                  <a:pt x="29120" y="751191"/>
                </a:cubicBezTo>
                <a:cubicBezTo>
                  <a:pt x="-9695" y="683963"/>
                  <a:pt x="-9711" y="606309"/>
                  <a:pt x="29104" y="539081"/>
                </a:cubicBezTo>
                <a:cubicBezTo>
                  <a:pt x="67919" y="471851"/>
                  <a:pt x="240291" y="173300"/>
                  <a:pt x="279106" y="106070"/>
                </a:cubicBezTo>
                <a:cubicBezTo>
                  <a:pt x="317921" y="38843"/>
                  <a:pt x="385163" y="1"/>
                  <a:pt x="462793" y="0"/>
                </a:cubicBezTo>
                <a:close/>
              </a:path>
            </a:pathLst>
          </a:custGeom>
          <a:ln w="76200">
            <a:solidFill>
              <a:schemeClr val="accent1"/>
            </a:solidFill>
          </a:ln>
        </p:spPr>
      </p:pic>
      <p:pic>
        <p:nvPicPr>
          <p:cNvPr id="4" name="image29.jpeg"/>
          <p:cNvPicPr>
            <a:picLocks noChangeAspect="1"/>
          </p:cNvPicPr>
          <p:nvPr/>
        </p:nvPicPr>
        <p:blipFill rotWithShape="1">
          <a:blip r:embed="rId4"/>
          <a:srcRect l="13151" r="13151"/>
          <a:stretch>
            <a:fillRect/>
          </a:stretch>
        </p:blipFill>
        <p:spPr>
          <a:xfrm>
            <a:off x="6004174" y="2977413"/>
            <a:ext cx="1439437" cy="1302764"/>
          </a:xfrm>
          <a:custGeom>
            <a:avLst/>
            <a:gdLst/>
            <a:ahLst/>
            <a:cxnLst/>
            <a:rect l="0" t="0" r="0" b="0"/>
            <a:pathLst>
              <a:path w="1425600" h="1290241">
                <a:moveTo>
                  <a:pt x="462793" y="0"/>
                </a:moveTo>
                <a:cubicBezTo>
                  <a:pt x="540422" y="1"/>
                  <a:pt x="885162" y="1"/>
                  <a:pt x="962791" y="0"/>
                </a:cubicBezTo>
                <a:cubicBezTo>
                  <a:pt x="1040421" y="1"/>
                  <a:pt x="1107663" y="38813"/>
                  <a:pt x="1146479" y="106041"/>
                </a:cubicBezTo>
                <a:cubicBezTo>
                  <a:pt x="1185294" y="173271"/>
                  <a:pt x="1357666" y="471822"/>
                  <a:pt x="1396481" y="539051"/>
                </a:cubicBezTo>
                <a:cubicBezTo>
                  <a:pt x="1435296" y="606280"/>
                  <a:pt x="1435313" y="683934"/>
                  <a:pt x="1396498" y="751162"/>
                </a:cubicBezTo>
                <a:cubicBezTo>
                  <a:pt x="1357683" y="818391"/>
                  <a:pt x="1185310" y="1116943"/>
                  <a:pt x="1146496" y="1184171"/>
                </a:cubicBezTo>
                <a:cubicBezTo>
                  <a:pt x="1107681" y="1251401"/>
                  <a:pt x="1040438" y="1290242"/>
                  <a:pt x="962809" y="1290241"/>
                </a:cubicBezTo>
                <a:cubicBezTo>
                  <a:pt x="885180" y="1290242"/>
                  <a:pt x="540440" y="1290242"/>
                  <a:pt x="462811" y="1290241"/>
                </a:cubicBezTo>
                <a:cubicBezTo>
                  <a:pt x="385181" y="1290242"/>
                  <a:pt x="317938" y="1251430"/>
                  <a:pt x="279123" y="1184201"/>
                </a:cubicBezTo>
                <a:cubicBezTo>
                  <a:pt x="240308" y="1116972"/>
                  <a:pt x="67936" y="818420"/>
                  <a:pt x="29120" y="751191"/>
                </a:cubicBezTo>
                <a:cubicBezTo>
                  <a:pt x="-9695" y="683963"/>
                  <a:pt x="-9711" y="606309"/>
                  <a:pt x="29104" y="539081"/>
                </a:cubicBezTo>
                <a:cubicBezTo>
                  <a:pt x="67919" y="471851"/>
                  <a:pt x="240291" y="173300"/>
                  <a:pt x="279106" y="106070"/>
                </a:cubicBezTo>
                <a:cubicBezTo>
                  <a:pt x="317921" y="38843"/>
                  <a:pt x="385163" y="1"/>
                  <a:pt x="462793" y="0"/>
                </a:cubicBezTo>
                <a:close/>
              </a:path>
            </a:pathLst>
          </a:custGeom>
          <a:ln w="76200">
            <a:solidFill>
              <a:schemeClr val="accent1"/>
            </a:solidFill>
          </a:ln>
        </p:spPr>
      </p:pic>
      <p:pic>
        <p:nvPicPr>
          <p:cNvPr id="5" name="image30.jpeg"/>
          <p:cNvPicPr>
            <a:picLocks noChangeAspect="1"/>
          </p:cNvPicPr>
          <p:nvPr/>
        </p:nvPicPr>
        <p:blipFill rotWithShape="1">
          <a:blip r:embed="rId5"/>
          <a:srcRect l="13151" r="13151"/>
          <a:stretch>
            <a:fillRect/>
          </a:stretch>
        </p:blipFill>
        <p:spPr>
          <a:xfrm>
            <a:off x="4687741" y="3781450"/>
            <a:ext cx="1439437" cy="1302764"/>
          </a:xfrm>
          <a:custGeom>
            <a:avLst/>
            <a:gdLst/>
            <a:ahLst/>
            <a:cxnLst/>
            <a:rect l="0" t="0" r="0" b="0"/>
            <a:pathLst>
              <a:path w="1425600" h="1290241">
                <a:moveTo>
                  <a:pt x="462793" y="0"/>
                </a:moveTo>
                <a:cubicBezTo>
                  <a:pt x="540422" y="1"/>
                  <a:pt x="885162" y="1"/>
                  <a:pt x="962791" y="0"/>
                </a:cubicBezTo>
                <a:cubicBezTo>
                  <a:pt x="1040421" y="1"/>
                  <a:pt x="1107663" y="38813"/>
                  <a:pt x="1146479" y="106041"/>
                </a:cubicBezTo>
                <a:cubicBezTo>
                  <a:pt x="1185294" y="173271"/>
                  <a:pt x="1357666" y="471822"/>
                  <a:pt x="1396481" y="539051"/>
                </a:cubicBezTo>
                <a:cubicBezTo>
                  <a:pt x="1435296" y="606280"/>
                  <a:pt x="1435313" y="683934"/>
                  <a:pt x="1396498" y="751162"/>
                </a:cubicBezTo>
                <a:cubicBezTo>
                  <a:pt x="1357683" y="818391"/>
                  <a:pt x="1185310" y="1116943"/>
                  <a:pt x="1146496" y="1184171"/>
                </a:cubicBezTo>
                <a:cubicBezTo>
                  <a:pt x="1107681" y="1251401"/>
                  <a:pt x="1040438" y="1290242"/>
                  <a:pt x="962809" y="1290241"/>
                </a:cubicBezTo>
                <a:cubicBezTo>
                  <a:pt x="885180" y="1290242"/>
                  <a:pt x="540440" y="1290242"/>
                  <a:pt x="462811" y="1290241"/>
                </a:cubicBezTo>
                <a:cubicBezTo>
                  <a:pt x="385181" y="1290242"/>
                  <a:pt x="317938" y="1251430"/>
                  <a:pt x="279123" y="1184201"/>
                </a:cubicBezTo>
                <a:cubicBezTo>
                  <a:pt x="240308" y="1116972"/>
                  <a:pt x="67936" y="818421"/>
                  <a:pt x="29120" y="751191"/>
                </a:cubicBezTo>
                <a:cubicBezTo>
                  <a:pt x="-9695" y="683963"/>
                  <a:pt x="-9711" y="606309"/>
                  <a:pt x="29104" y="539081"/>
                </a:cubicBezTo>
                <a:cubicBezTo>
                  <a:pt x="67919" y="471851"/>
                  <a:pt x="240291" y="173300"/>
                  <a:pt x="279106" y="106070"/>
                </a:cubicBezTo>
                <a:cubicBezTo>
                  <a:pt x="317921" y="38843"/>
                  <a:pt x="385163" y="1"/>
                  <a:pt x="462793" y="0"/>
                </a:cubicBezTo>
                <a:close/>
              </a:path>
            </a:pathLst>
          </a:custGeom>
          <a:ln w="76200">
            <a:solidFill>
              <a:schemeClr val="accent1"/>
            </a:solidFill>
          </a:ln>
        </p:spPr>
      </p:pic>
      <p:pic>
        <p:nvPicPr>
          <p:cNvPr id="6" name="image26.jpeg"/>
          <p:cNvPicPr>
            <a:picLocks noChangeAspect="1"/>
          </p:cNvPicPr>
          <p:nvPr/>
        </p:nvPicPr>
        <p:blipFill>
          <a:blip r:embed="rId6"/>
          <a:srcRect l="13151" r="13151"/>
          <a:stretch>
            <a:fillRect/>
          </a:stretch>
        </p:blipFill>
        <p:spPr>
          <a:xfrm>
            <a:off x="6003312" y="4584989"/>
            <a:ext cx="1439437" cy="1302764"/>
          </a:xfrm>
          <a:custGeom>
            <a:avLst/>
            <a:gdLst/>
            <a:ahLst/>
            <a:cxnLst/>
            <a:rect l="0" t="0" r="0" b="0"/>
            <a:pathLst>
              <a:path w="1425600" h="1290241">
                <a:moveTo>
                  <a:pt x="462793" y="0"/>
                </a:moveTo>
                <a:cubicBezTo>
                  <a:pt x="540422" y="1"/>
                  <a:pt x="885162" y="1"/>
                  <a:pt x="962791" y="0"/>
                </a:cubicBezTo>
                <a:cubicBezTo>
                  <a:pt x="1040421" y="1"/>
                  <a:pt x="1107663" y="38813"/>
                  <a:pt x="1146479" y="106041"/>
                </a:cubicBezTo>
                <a:cubicBezTo>
                  <a:pt x="1185294" y="173271"/>
                  <a:pt x="1357666" y="471822"/>
                  <a:pt x="1396481" y="539051"/>
                </a:cubicBezTo>
                <a:cubicBezTo>
                  <a:pt x="1435296" y="606280"/>
                  <a:pt x="1435313" y="683934"/>
                  <a:pt x="1396498" y="751162"/>
                </a:cubicBezTo>
                <a:cubicBezTo>
                  <a:pt x="1357683" y="818391"/>
                  <a:pt x="1185310" y="1116943"/>
                  <a:pt x="1146496" y="1184171"/>
                </a:cubicBezTo>
                <a:cubicBezTo>
                  <a:pt x="1107681" y="1251401"/>
                  <a:pt x="1040438" y="1290242"/>
                  <a:pt x="962809" y="1290241"/>
                </a:cubicBezTo>
                <a:cubicBezTo>
                  <a:pt x="885180" y="1290242"/>
                  <a:pt x="540440" y="1290242"/>
                  <a:pt x="462811" y="1290241"/>
                </a:cubicBezTo>
                <a:cubicBezTo>
                  <a:pt x="385181" y="1290242"/>
                  <a:pt x="317938" y="1251430"/>
                  <a:pt x="279123" y="1184201"/>
                </a:cubicBezTo>
                <a:cubicBezTo>
                  <a:pt x="240308" y="1116972"/>
                  <a:pt x="67936" y="818421"/>
                  <a:pt x="29120" y="751191"/>
                </a:cubicBezTo>
                <a:cubicBezTo>
                  <a:pt x="-9695" y="683963"/>
                  <a:pt x="-9711" y="606309"/>
                  <a:pt x="29104" y="539081"/>
                </a:cubicBezTo>
                <a:cubicBezTo>
                  <a:pt x="67919" y="471851"/>
                  <a:pt x="240291" y="173300"/>
                  <a:pt x="279106" y="106071"/>
                </a:cubicBezTo>
                <a:cubicBezTo>
                  <a:pt x="317921" y="38843"/>
                  <a:pt x="385163" y="1"/>
                  <a:pt x="462793" y="0"/>
                </a:cubicBezTo>
                <a:close/>
              </a:path>
            </a:pathLst>
          </a:custGeom>
          <a:noFill/>
          <a:ln w="76200">
            <a:solidFill>
              <a:schemeClr val="accent1"/>
            </a:solidFill>
          </a:ln>
        </p:spPr>
      </p:pic>
      <p:sp>
        <p:nvSpPr>
          <p:cNvPr id="7" name="AutoShape 7"/>
          <p:cNvSpPr/>
          <p:nvPr/>
        </p:nvSpPr>
        <p:spPr>
          <a:xfrm>
            <a:off x="7572375" y="1016635"/>
            <a:ext cx="446400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l">
              <a:spcBef>
                <a:spcPct val="0"/>
              </a:spcBef>
              <a:spcAft>
                <a:spcPct val="0"/>
              </a:spcAft>
            </a:pPr>
            <a:r>
              <a:rPr lang="en-US" sz="2000" b="1" i="0" u="none" baseline="0"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Inaccurate Health Estimates</a:t>
            </a:r>
          </a:p>
        </p:txBody>
      </p:sp>
      <p:sp>
        <p:nvSpPr>
          <p:cNvPr id="8" name="AutoShape 8"/>
          <p:cNvSpPr/>
          <p:nvPr/>
        </p:nvSpPr>
        <p:spPr>
          <a:xfrm>
            <a:off x="7572375" y="5248275"/>
            <a:ext cx="4464000" cy="1440000"/>
          </a:xfrm>
          <a:prstGeom prst="rect">
            <a:avLst/>
          </a:prstGeom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400" b="0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Users frequently lose motivation and stop tracking after a few days due to the absence of accountability measures.</a:t>
            </a:r>
          </a:p>
        </p:txBody>
      </p:sp>
      <p:sp>
        <p:nvSpPr>
          <p:cNvPr id="9" name="AutoShape 9"/>
          <p:cNvSpPr/>
          <p:nvPr/>
        </p:nvSpPr>
        <p:spPr>
          <a:xfrm>
            <a:off x="7572375" y="2929890"/>
            <a:ext cx="446400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l">
              <a:spcBef>
                <a:spcPct val="0"/>
              </a:spcBef>
              <a:spcAft>
                <a:spcPct val="0"/>
              </a:spcAft>
            </a:pPr>
            <a:r>
              <a:rPr lang="en-US" sz="2000" b="1" i="0" u="none" baseline="0"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Mental Health Stigma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572375" y="1441450"/>
            <a:ext cx="4464000" cy="1440000"/>
          </a:xfrm>
          <a:prstGeom prst="rect">
            <a:avLst/>
          </a:prstGeom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400" b="0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Many health apps provide unreliable estimates for critical metrics like blood pressure and glucose, potentially misleading users.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572375" y="3363595"/>
            <a:ext cx="4464000" cy="1440000"/>
          </a:xfrm>
          <a:prstGeom prst="rect">
            <a:avLst/>
          </a:prstGeom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400" b="0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A significant percentage of individuals in India do not seek professional help for mental health issues due to stigma.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572375" y="4843145"/>
            <a:ext cx="446400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l">
              <a:spcBef>
                <a:spcPct val="0"/>
              </a:spcBef>
              <a:spcAft>
                <a:spcPct val="0"/>
              </a:spcAft>
            </a:pPr>
            <a:r>
              <a:rPr lang="en-US" sz="2000" b="1" i="0" u="none" baseline="0"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Lack of Habit Accountability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07315" y="4803140"/>
            <a:ext cx="4464000" cy="1440000"/>
          </a:xfrm>
          <a:prstGeom prst="rect">
            <a:avLst/>
          </a:prstGeom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r" fontAlgn="auto">
              <a:lnSpc>
                <a:spcPct val="150000"/>
              </a:lnSpc>
            </a:pPr>
            <a:r>
              <a:rPr lang="en-US" sz="1400" b="0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Professional dietary consultations can be prohibitively expensive, ranging from ₹500 to ₹2,000 per session in India.</a:t>
            </a:r>
          </a:p>
        </p:txBody>
      </p:sp>
      <p:sp>
        <p:nvSpPr>
          <p:cNvPr id="14" name="AutoShape 14"/>
          <p:cNvSpPr/>
          <p:nvPr/>
        </p:nvSpPr>
        <p:spPr>
          <a:xfrm>
            <a:off x="107315" y="4375785"/>
            <a:ext cx="446400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r">
              <a:spcBef>
                <a:spcPct val="0"/>
              </a:spcBef>
              <a:spcAft>
                <a:spcPct val="0"/>
              </a:spcAft>
            </a:pPr>
            <a:r>
              <a:rPr lang="en-US" sz="2000" b="1" i="0" u="none" baseline="0"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High Cost of Professional Advice</a:t>
            </a:r>
          </a:p>
        </p:txBody>
      </p:sp>
      <p:sp>
        <p:nvSpPr>
          <p:cNvPr id="15" name="AutoShape 15"/>
          <p:cNvSpPr/>
          <p:nvPr/>
        </p:nvSpPr>
        <p:spPr>
          <a:xfrm>
            <a:off x="107315" y="2437130"/>
            <a:ext cx="4464000" cy="1440000"/>
          </a:xfrm>
          <a:prstGeom prst="rect">
            <a:avLst/>
          </a:prstGeom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r" fontAlgn="auto">
              <a:lnSpc>
                <a:spcPct val="150000"/>
              </a:lnSpc>
            </a:pPr>
            <a:r>
              <a:rPr lang="en-US" sz="1400" b="0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Users often rely on multiple applications to monitor nutrition, mental health, and physical activity, which complicates tracking and reduces accountability.</a:t>
            </a:r>
          </a:p>
        </p:txBody>
      </p:sp>
      <p:sp>
        <p:nvSpPr>
          <p:cNvPr id="16" name="AutoShape 16"/>
          <p:cNvSpPr/>
          <p:nvPr/>
        </p:nvSpPr>
        <p:spPr>
          <a:xfrm>
            <a:off x="107315" y="2019300"/>
            <a:ext cx="446400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r">
              <a:spcBef>
                <a:spcPct val="0"/>
              </a:spcBef>
              <a:spcAft>
                <a:spcPct val="0"/>
              </a:spcAft>
            </a:pPr>
            <a:r>
              <a:rPr lang="en-US" sz="2000" b="1" i="0" u="none" baseline="0"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Fragmented User Experience</a:t>
            </a:r>
          </a:p>
        </p:txBody>
      </p:sp>
      <p:sp>
        <p:nvSpPr>
          <p:cNvPr id="17" name="Freeform 17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</p:sp>
      <p:sp>
        <p:nvSpPr>
          <p:cNvPr id="18" name="TextBox 1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Current Challenges in Health Tracking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69315" y="1439940"/>
            <a:ext cx="324485" cy="322580"/>
          </a:xfrm>
          <a:custGeom>
            <a:avLst/>
            <a:gdLst/>
            <a:ahLst/>
            <a:cxnLst/>
            <a:rect l="l" t="t" r="r" b="b"/>
            <a:pathLst>
              <a:path w="510" h="508">
                <a:moveTo>
                  <a:pt x="305" y="0"/>
                </a:moveTo>
                <a:cubicBezTo>
                  <a:pt x="193" y="0"/>
                  <a:pt x="102" y="91"/>
                  <a:pt x="102" y="203"/>
                </a:cubicBezTo>
                <a:cubicBezTo>
                  <a:pt x="102" y="228"/>
                  <a:pt x="106" y="252"/>
                  <a:pt x="115" y="275"/>
                </a:cubicBezTo>
                <a:lnTo>
                  <a:pt x="35" y="341"/>
                </a:lnTo>
                <a:cubicBezTo>
                  <a:pt x="7" y="363"/>
                  <a:pt x="-6" y="400"/>
                  <a:pt x="2" y="435"/>
                </a:cubicBezTo>
                <a:cubicBezTo>
                  <a:pt x="11" y="470"/>
                  <a:pt x="38" y="497"/>
                  <a:pt x="73" y="506"/>
                </a:cubicBezTo>
                <a:cubicBezTo>
                  <a:pt x="108" y="514"/>
                  <a:pt x="145" y="501"/>
                  <a:pt x="167" y="473"/>
                </a:cubicBezTo>
                <a:lnTo>
                  <a:pt x="233" y="393"/>
                </a:lnTo>
                <a:cubicBezTo>
                  <a:pt x="256" y="402"/>
                  <a:pt x="280" y="406"/>
                  <a:pt x="305" y="406"/>
                </a:cubicBezTo>
                <a:cubicBezTo>
                  <a:pt x="378" y="407"/>
                  <a:pt x="446" y="369"/>
                  <a:pt x="482" y="305"/>
                </a:cubicBezTo>
                <a:cubicBezTo>
                  <a:pt x="519" y="242"/>
                  <a:pt x="519" y="164"/>
                  <a:pt x="482" y="101"/>
                </a:cubicBezTo>
                <a:cubicBezTo>
                  <a:pt x="446" y="38"/>
                  <a:pt x="378" y="-1"/>
                  <a:pt x="305" y="0"/>
                </a:cubicBezTo>
                <a:close/>
                <a:moveTo>
                  <a:pt x="128" y="441"/>
                </a:moveTo>
                <a:cubicBezTo>
                  <a:pt x="118" y="454"/>
                  <a:pt x="101" y="460"/>
                  <a:pt x="85" y="456"/>
                </a:cubicBezTo>
                <a:cubicBezTo>
                  <a:pt x="68" y="452"/>
                  <a:pt x="56" y="440"/>
                  <a:pt x="52" y="424"/>
                </a:cubicBezTo>
                <a:cubicBezTo>
                  <a:pt x="48" y="407"/>
                  <a:pt x="54" y="390"/>
                  <a:pt x="67" y="380"/>
                </a:cubicBezTo>
                <a:lnTo>
                  <a:pt x="139" y="321"/>
                </a:lnTo>
                <a:cubicBezTo>
                  <a:pt x="152" y="339"/>
                  <a:pt x="169" y="355"/>
                  <a:pt x="187" y="369"/>
                </a:cubicBezTo>
                <a:lnTo>
                  <a:pt x="128" y="441"/>
                </a:lnTo>
                <a:close/>
                <a:moveTo>
                  <a:pt x="305" y="355"/>
                </a:moveTo>
                <a:cubicBezTo>
                  <a:pt x="221" y="355"/>
                  <a:pt x="152" y="287"/>
                  <a:pt x="152" y="203"/>
                </a:cubicBezTo>
                <a:cubicBezTo>
                  <a:pt x="152" y="119"/>
                  <a:pt x="221" y="51"/>
                  <a:pt x="305" y="51"/>
                </a:cubicBezTo>
                <a:cubicBezTo>
                  <a:pt x="389" y="51"/>
                  <a:pt x="457" y="119"/>
                  <a:pt x="457" y="203"/>
                </a:cubicBezTo>
                <a:cubicBezTo>
                  <a:pt x="457" y="287"/>
                  <a:pt x="389" y="355"/>
                  <a:pt x="305" y="355"/>
                </a:cubicBezTo>
                <a:close/>
                <a:moveTo>
                  <a:pt x="381" y="178"/>
                </a:moveTo>
                <a:cubicBezTo>
                  <a:pt x="374" y="178"/>
                  <a:pt x="367" y="181"/>
                  <a:pt x="363" y="185"/>
                </a:cubicBezTo>
                <a:cubicBezTo>
                  <a:pt x="358" y="190"/>
                  <a:pt x="355" y="197"/>
                  <a:pt x="355" y="203"/>
                </a:cubicBezTo>
                <a:cubicBezTo>
                  <a:pt x="355" y="231"/>
                  <a:pt x="332" y="254"/>
                  <a:pt x="304" y="254"/>
                </a:cubicBezTo>
                <a:cubicBezTo>
                  <a:pt x="295" y="254"/>
                  <a:pt x="286" y="259"/>
                  <a:pt x="282" y="267"/>
                </a:cubicBezTo>
                <a:cubicBezTo>
                  <a:pt x="277" y="275"/>
                  <a:pt x="277" y="285"/>
                  <a:pt x="282" y="293"/>
                </a:cubicBezTo>
                <a:cubicBezTo>
                  <a:pt x="286" y="300"/>
                  <a:pt x="295" y="305"/>
                  <a:pt x="304" y="305"/>
                </a:cubicBezTo>
                <a:cubicBezTo>
                  <a:pt x="360" y="305"/>
                  <a:pt x="406" y="259"/>
                  <a:pt x="406" y="203"/>
                </a:cubicBezTo>
                <a:cubicBezTo>
                  <a:pt x="406" y="197"/>
                  <a:pt x="403" y="190"/>
                  <a:pt x="399" y="185"/>
                </a:cubicBezTo>
                <a:cubicBezTo>
                  <a:pt x="394" y="181"/>
                  <a:pt x="387" y="178"/>
                  <a:pt x="381" y="178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cap="sq">
            <a:noFill/>
            <a:prstDash val="solid"/>
            <a:bevel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869315" y="4085350"/>
            <a:ext cx="324485" cy="323850"/>
          </a:xfrm>
          <a:custGeom>
            <a:avLst/>
            <a:gdLst/>
            <a:ahLst/>
            <a:cxnLst/>
            <a:rect l="l" t="t" r="r" b="b"/>
            <a:pathLst>
              <a:path w="510" h="510">
                <a:moveTo>
                  <a:pt x="459" y="0"/>
                </a:moveTo>
                <a:lnTo>
                  <a:pt x="76" y="0"/>
                </a:lnTo>
                <a:cubicBezTo>
                  <a:pt x="34" y="0"/>
                  <a:pt x="0" y="34"/>
                  <a:pt x="0" y="76"/>
                </a:cubicBezTo>
                <a:lnTo>
                  <a:pt x="0" y="434"/>
                </a:lnTo>
                <a:cubicBezTo>
                  <a:pt x="0" y="476"/>
                  <a:pt x="34" y="510"/>
                  <a:pt x="76" y="510"/>
                </a:cubicBezTo>
                <a:lnTo>
                  <a:pt x="459" y="510"/>
                </a:lnTo>
                <a:cubicBezTo>
                  <a:pt x="487" y="510"/>
                  <a:pt x="510" y="487"/>
                  <a:pt x="510" y="459"/>
                </a:cubicBezTo>
                <a:lnTo>
                  <a:pt x="510" y="51"/>
                </a:lnTo>
                <a:cubicBezTo>
                  <a:pt x="510" y="23"/>
                  <a:pt x="487" y="0"/>
                  <a:pt x="459" y="0"/>
                </a:cubicBezTo>
                <a:close/>
                <a:moveTo>
                  <a:pt x="51" y="434"/>
                </a:moveTo>
                <a:lnTo>
                  <a:pt x="51" y="76"/>
                </a:lnTo>
                <a:cubicBezTo>
                  <a:pt x="51" y="62"/>
                  <a:pt x="62" y="51"/>
                  <a:pt x="76" y="51"/>
                </a:cubicBezTo>
                <a:lnTo>
                  <a:pt x="102" y="51"/>
                </a:lnTo>
                <a:lnTo>
                  <a:pt x="102" y="459"/>
                </a:lnTo>
                <a:lnTo>
                  <a:pt x="76" y="459"/>
                </a:lnTo>
                <a:cubicBezTo>
                  <a:pt x="62" y="459"/>
                  <a:pt x="51" y="448"/>
                  <a:pt x="51" y="434"/>
                </a:cubicBezTo>
                <a:close/>
                <a:moveTo>
                  <a:pt x="153" y="459"/>
                </a:moveTo>
                <a:lnTo>
                  <a:pt x="153" y="51"/>
                </a:lnTo>
                <a:lnTo>
                  <a:pt x="459" y="51"/>
                </a:lnTo>
                <a:lnTo>
                  <a:pt x="459" y="459"/>
                </a:lnTo>
                <a:lnTo>
                  <a:pt x="153" y="459"/>
                </a:lnTo>
                <a:close/>
                <a:moveTo>
                  <a:pt x="382" y="204"/>
                </a:moveTo>
                <a:cubicBezTo>
                  <a:pt x="383" y="170"/>
                  <a:pt x="361" y="140"/>
                  <a:pt x="328" y="130"/>
                </a:cubicBezTo>
                <a:cubicBezTo>
                  <a:pt x="296" y="120"/>
                  <a:pt x="261" y="133"/>
                  <a:pt x="242" y="162"/>
                </a:cubicBezTo>
                <a:cubicBezTo>
                  <a:pt x="223" y="190"/>
                  <a:pt x="226" y="227"/>
                  <a:pt x="248" y="253"/>
                </a:cubicBezTo>
                <a:cubicBezTo>
                  <a:pt x="221" y="276"/>
                  <a:pt x="204" y="314"/>
                  <a:pt x="204" y="357"/>
                </a:cubicBezTo>
                <a:cubicBezTo>
                  <a:pt x="204" y="372"/>
                  <a:pt x="215" y="383"/>
                  <a:pt x="229" y="383"/>
                </a:cubicBezTo>
                <a:lnTo>
                  <a:pt x="382" y="383"/>
                </a:lnTo>
                <a:cubicBezTo>
                  <a:pt x="397" y="383"/>
                  <a:pt x="408" y="372"/>
                  <a:pt x="408" y="357"/>
                </a:cubicBezTo>
                <a:cubicBezTo>
                  <a:pt x="408" y="314"/>
                  <a:pt x="391" y="276"/>
                  <a:pt x="364" y="253"/>
                </a:cubicBezTo>
                <a:cubicBezTo>
                  <a:pt x="376" y="239"/>
                  <a:pt x="382" y="222"/>
                  <a:pt x="382" y="204"/>
                </a:cubicBezTo>
                <a:close/>
                <a:moveTo>
                  <a:pt x="306" y="179"/>
                </a:moveTo>
                <a:cubicBezTo>
                  <a:pt x="320" y="179"/>
                  <a:pt x="331" y="190"/>
                  <a:pt x="331" y="204"/>
                </a:cubicBezTo>
                <a:cubicBezTo>
                  <a:pt x="331" y="218"/>
                  <a:pt x="320" y="230"/>
                  <a:pt x="306" y="230"/>
                </a:cubicBezTo>
                <a:cubicBezTo>
                  <a:pt x="292" y="230"/>
                  <a:pt x="280" y="218"/>
                  <a:pt x="280" y="204"/>
                </a:cubicBezTo>
                <a:cubicBezTo>
                  <a:pt x="280" y="190"/>
                  <a:pt x="292" y="179"/>
                  <a:pt x="306" y="179"/>
                </a:cubicBezTo>
                <a:close/>
                <a:moveTo>
                  <a:pt x="258" y="332"/>
                </a:moveTo>
                <a:cubicBezTo>
                  <a:pt x="265" y="302"/>
                  <a:pt x="284" y="281"/>
                  <a:pt x="306" y="281"/>
                </a:cubicBezTo>
                <a:cubicBezTo>
                  <a:pt x="328" y="281"/>
                  <a:pt x="347" y="302"/>
                  <a:pt x="354" y="332"/>
                </a:cubicBezTo>
                <a:lnTo>
                  <a:pt x="258" y="332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cap="sq">
            <a:noFill/>
            <a:prstDash val="solid"/>
            <a:bevel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" name="Freeform 4"/>
          <p:cNvSpPr/>
          <p:nvPr/>
        </p:nvSpPr>
        <p:spPr>
          <a:xfrm>
            <a:off x="4537696" y="4085360"/>
            <a:ext cx="323831" cy="323831"/>
          </a:xfrm>
          <a:custGeom>
            <a:avLst/>
            <a:gdLst/>
            <a:ahLst/>
            <a:cxnLst/>
            <a:rect l="l" t="t" r="r" b="b"/>
            <a:pathLst>
              <a:path w="510" h="510">
                <a:moveTo>
                  <a:pt x="434" y="128"/>
                </a:moveTo>
                <a:lnTo>
                  <a:pt x="332" y="128"/>
                </a:lnTo>
                <a:lnTo>
                  <a:pt x="332" y="76"/>
                </a:lnTo>
                <a:cubicBezTo>
                  <a:pt x="332" y="34"/>
                  <a:pt x="297" y="0"/>
                  <a:pt x="255" y="0"/>
                </a:cubicBezTo>
                <a:cubicBezTo>
                  <a:pt x="213" y="0"/>
                  <a:pt x="179" y="34"/>
                  <a:pt x="179" y="76"/>
                </a:cubicBezTo>
                <a:lnTo>
                  <a:pt x="179" y="128"/>
                </a:lnTo>
                <a:lnTo>
                  <a:pt x="76" y="128"/>
                </a:lnTo>
                <a:cubicBezTo>
                  <a:pt x="34" y="128"/>
                  <a:pt x="0" y="162"/>
                  <a:pt x="0" y="204"/>
                </a:cubicBezTo>
                <a:lnTo>
                  <a:pt x="0" y="434"/>
                </a:lnTo>
                <a:cubicBezTo>
                  <a:pt x="0" y="476"/>
                  <a:pt x="34" y="510"/>
                  <a:pt x="76" y="510"/>
                </a:cubicBezTo>
                <a:lnTo>
                  <a:pt x="434" y="510"/>
                </a:lnTo>
                <a:cubicBezTo>
                  <a:pt x="476" y="510"/>
                  <a:pt x="510" y="476"/>
                  <a:pt x="510" y="434"/>
                </a:cubicBezTo>
                <a:lnTo>
                  <a:pt x="510" y="204"/>
                </a:lnTo>
                <a:cubicBezTo>
                  <a:pt x="510" y="162"/>
                  <a:pt x="476" y="128"/>
                  <a:pt x="434" y="128"/>
                </a:cubicBezTo>
                <a:close/>
                <a:moveTo>
                  <a:pt x="230" y="76"/>
                </a:moveTo>
                <a:cubicBezTo>
                  <a:pt x="230" y="62"/>
                  <a:pt x="241" y="51"/>
                  <a:pt x="255" y="51"/>
                </a:cubicBezTo>
                <a:cubicBezTo>
                  <a:pt x="269" y="51"/>
                  <a:pt x="281" y="62"/>
                  <a:pt x="281" y="76"/>
                </a:cubicBezTo>
                <a:lnTo>
                  <a:pt x="281" y="128"/>
                </a:lnTo>
                <a:lnTo>
                  <a:pt x="230" y="128"/>
                </a:lnTo>
                <a:lnTo>
                  <a:pt x="230" y="76"/>
                </a:lnTo>
                <a:close/>
                <a:moveTo>
                  <a:pt x="459" y="434"/>
                </a:moveTo>
                <a:cubicBezTo>
                  <a:pt x="459" y="448"/>
                  <a:pt x="448" y="459"/>
                  <a:pt x="434" y="459"/>
                </a:cubicBezTo>
                <a:lnTo>
                  <a:pt x="76" y="459"/>
                </a:lnTo>
                <a:cubicBezTo>
                  <a:pt x="62" y="459"/>
                  <a:pt x="51" y="448"/>
                  <a:pt x="51" y="434"/>
                </a:cubicBezTo>
                <a:lnTo>
                  <a:pt x="51" y="204"/>
                </a:lnTo>
                <a:cubicBezTo>
                  <a:pt x="51" y="190"/>
                  <a:pt x="62" y="179"/>
                  <a:pt x="76" y="179"/>
                </a:cubicBezTo>
                <a:lnTo>
                  <a:pt x="434" y="179"/>
                </a:lnTo>
                <a:cubicBezTo>
                  <a:pt x="448" y="179"/>
                  <a:pt x="459" y="190"/>
                  <a:pt x="459" y="204"/>
                </a:cubicBezTo>
                <a:lnTo>
                  <a:pt x="459" y="434"/>
                </a:lnTo>
                <a:close/>
                <a:moveTo>
                  <a:pt x="229" y="229"/>
                </a:moveTo>
                <a:lnTo>
                  <a:pt x="127" y="229"/>
                </a:lnTo>
                <a:cubicBezTo>
                  <a:pt x="113" y="229"/>
                  <a:pt x="102" y="240"/>
                  <a:pt x="102" y="255"/>
                </a:cubicBezTo>
                <a:lnTo>
                  <a:pt x="102" y="382"/>
                </a:lnTo>
                <a:cubicBezTo>
                  <a:pt x="102" y="397"/>
                  <a:pt x="113" y="408"/>
                  <a:pt x="127" y="408"/>
                </a:cubicBezTo>
                <a:lnTo>
                  <a:pt x="229" y="408"/>
                </a:lnTo>
                <a:cubicBezTo>
                  <a:pt x="244" y="408"/>
                  <a:pt x="255" y="397"/>
                  <a:pt x="255" y="382"/>
                </a:cubicBezTo>
                <a:lnTo>
                  <a:pt x="255" y="255"/>
                </a:lnTo>
                <a:cubicBezTo>
                  <a:pt x="255" y="240"/>
                  <a:pt x="244" y="229"/>
                  <a:pt x="229" y="229"/>
                </a:cubicBezTo>
                <a:close/>
                <a:moveTo>
                  <a:pt x="204" y="357"/>
                </a:moveTo>
                <a:lnTo>
                  <a:pt x="153" y="357"/>
                </a:lnTo>
                <a:lnTo>
                  <a:pt x="153" y="280"/>
                </a:lnTo>
                <a:lnTo>
                  <a:pt x="204" y="280"/>
                </a:lnTo>
                <a:lnTo>
                  <a:pt x="204" y="357"/>
                </a:lnTo>
                <a:close/>
                <a:moveTo>
                  <a:pt x="383" y="229"/>
                </a:moveTo>
                <a:lnTo>
                  <a:pt x="307" y="229"/>
                </a:lnTo>
                <a:cubicBezTo>
                  <a:pt x="292" y="229"/>
                  <a:pt x="281" y="240"/>
                  <a:pt x="281" y="255"/>
                </a:cubicBezTo>
                <a:cubicBezTo>
                  <a:pt x="281" y="269"/>
                  <a:pt x="292" y="280"/>
                  <a:pt x="307" y="280"/>
                </a:cubicBezTo>
                <a:lnTo>
                  <a:pt x="383" y="280"/>
                </a:lnTo>
                <a:cubicBezTo>
                  <a:pt x="398" y="280"/>
                  <a:pt x="409" y="269"/>
                  <a:pt x="409" y="255"/>
                </a:cubicBezTo>
                <a:cubicBezTo>
                  <a:pt x="409" y="240"/>
                  <a:pt x="398" y="229"/>
                  <a:pt x="383" y="229"/>
                </a:cubicBezTo>
                <a:close/>
                <a:moveTo>
                  <a:pt x="383" y="357"/>
                </a:moveTo>
                <a:lnTo>
                  <a:pt x="307" y="357"/>
                </a:lnTo>
                <a:cubicBezTo>
                  <a:pt x="292" y="357"/>
                  <a:pt x="281" y="368"/>
                  <a:pt x="281" y="383"/>
                </a:cubicBezTo>
                <a:cubicBezTo>
                  <a:pt x="281" y="397"/>
                  <a:pt x="292" y="408"/>
                  <a:pt x="307" y="408"/>
                </a:cubicBezTo>
                <a:lnTo>
                  <a:pt x="383" y="408"/>
                </a:lnTo>
                <a:cubicBezTo>
                  <a:pt x="398" y="408"/>
                  <a:pt x="409" y="397"/>
                  <a:pt x="409" y="383"/>
                </a:cubicBezTo>
                <a:cubicBezTo>
                  <a:pt x="409" y="368"/>
                  <a:pt x="398" y="357"/>
                  <a:pt x="383" y="357"/>
                </a:cubicBezTo>
                <a:close/>
              </a:path>
            </a:pathLst>
          </a:custGeom>
          <a:solidFill>
            <a:schemeClr val="accent6">
              <a:lumMod val="75000"/>
            </a:schemeClr>
          </a:solidFill>
          <a:ln cap="sq">
            <a:noFill/>
            <a:prstDash val="solid"/>
            <a:bevel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4537696" y="1439433"/>
            <a:ext cx="323895" cy="323594"/>
          </a:xfrm>
          <a:custGeom>
            <a:avLst/>
            <a:gdLst/>
            <a:ahLst/>
            <a:cxnLst/>
            <a:rect l="l" t="t" r="r" b="b"/>
            <a:pathLst>
              <a:path w="323915" h="323614">
                <a:moveTo>
                  <a:pt x="301671" y="1143"/>
                </a:moveTo>
                <a:lnTo>
                  <a:pt x="142464" y="64825"/>
                </a:lnTo>
                <a:lnTo>
                  <a:pt x="80900" y="64825"/>
                </a:lnTo>
                <a:cubicBezTo>
                  <a:pt x="45811" y="64806"/>
                  <a:pt x="14715" y="87423"/>
                  <a:pt x="3924" y="120811"/>
                </a:cubicBezTo>
                <a:cubicBezTo>
                  <a:pt x="-6867" y="154201"/>
                  <a:pt x="5111" y="190737"/>
                  <a:pt x="33574" y="211258"/>
                </a:cubicBezTo>
                <a:lnTo>
                  <a:pt x="44588" y="283213"/>
                </a:lnTo>
                <a:cubicBezTo>
                  <a:pt x="48769" y="309371"/>
                  <a:pt x="73364" y="327187"/>
                  <a:pt x="99523" y="323006"/>
                </a:cubicBezTo>
                <a:cubicBezTo>
                  <a:pt x="125682" y="318825"/>
                  <a:pt x="143498" y="294229"/>
                  <a:pt x="139317" y="268071"/>
                </a:cubicBezTo>
                <a:lnTo>
                  <a:pt x="132416" y="226742"/>
                </a:lnTo>
                <a:lnTo>
                  <a:pt x="142682" y="226742"/>
                </a:lnTo>
                <a:lnTo>
                  <a:pt x="301655" y="290332"/>
                </a:lnTo>
                <a:cubicBezTo>
                  <a:pt x="306640" y="292341"/>
                  <a:pt x="312296" y="291749"/>
                  <a:pt x="316756" y="288750"/>
                </a:cubicBezTo>
                <a:cubicBezTo>
                  <a:pt x="321216" y="285752"/>
                  <a:pt x="323897" y="280736"/>
                  <a:pt x="323916" y="275361"/>
                </a:cubicBezTo>
                <a:lnTo>
                  <a:pt x="323916" y="16191"/>
                </a:lnTo>
                <a:cubicBezTo>
                  <a:pt x="323902" y="10821"/>
                  <a:pt x="321233" y="5805"/>
                  <a:pt x="316787" y="2793"/>
                </a:cubicBezTo>
                <a:cubicBezTo>
                  <a:pt x="312341" y="-218"/>
                  <a:pt x="306694" y="-836"/>
                  <a:pt x="301702" y="1143"/>
                </a:cubicBezTo>
                <a:moveTo>
                  <a:pt x="80900" y="97227"/>
                </a:moveTo>
                <a:lnTo>
                  <a:pt x="129503" y="97227"/>
                </a:lnTo>
                <a:lnTo>
                  <a:pt x="129503" y="194418"/>
                </a:lnTo>
                <a:lnTo>
                  <a:pt x="80900" y="194418"/>
                </a:lnTo>
                <a:cubicBezTo>
                  <a:pt x="54401" y="193943"/>
                  <a:pt x="33167" y="172327"/>
                  <a:pt x="33167" y="145823"/>
                </a:cubicBezTo>
                <a:cubicBezTo>
                  <a:pt x="33167" y="119319"/>
                  <a:pt x="54401" y="97702"/>
                  <a:pt x="80900" y="97227"/>
                </a:cubicBezTo>
                <a:moveTo>
                  <a:pt x="107382" y="273461"/>
                </a:moveTo>
                <a:cubicBezTo>
                  <a:pt x="108296" y="278974"/>
                  <a:pt x="106187" y="284554"/>
                  <a:pt x="101855" y="288084"/>
                </a:cubicBezTo>
                <a:cubicBezTo>
                  <a:pt x="97524" y="291614"/>
                  <a:pt x="91633" y="292555"/>
                  <a:pt x="86418" y="290547"/>
                </a:cubicBezTo>
                <a:cubicBezTo>
                  <a:pt x="81203" y="288539"/>
                  <a:pt x="77462" y="283892"/>
                  <a:pt x="76616" y="278368"/>
                </a:cubicBezTo>
                <a:lnTo>
                  <a:pt x="68562" y="225745"/>
                </a:lnTo>
                <a:cubicBezTo>
                  <a:pt x="77909" y="227210"/>
                  <a:pt x="81663" y="226805"/>
                  <a:pt x="99593" y="226805"/>
                </a:cubicBezTo>
                <a:lnTo>
                  <a:pt x="107382" y="273461"/>
                </a:lnTo>
                <a:moveTo>
                  <a:pt x="291483" y="251434"/>
                </a:moveTo>
                <a:lnTo>
                  <a:pt x="161905" y="199590"/>
                </a:lnTo>
                <a:lnTo>
                  <a:pt x="161905" y="91884"/>
                </a:lnTo>
                <a:lnTo>
                  <a:pt x="291483" y="40041"/>
                </a:lnTo>
                <a:lnTo>
                  <a:pt x="291483" y="251434"/>
                </a:lnTo>
              </a:path>
            </a:pathLst>
          </a:custGeom>
          <a:solidFill>
            <a:schemeClr val="accent6">
              <a:lumMod val="75000"/>
            </a:schemeClr>
          </a:solidFill>
          <a:ln cap="sq">
            <a:noFill/>
            <a:prstDash val="solid"/>
            <a:bevel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8199525" y="1439283"/>
            <a:ext cx="323128" cy="323895"/>
          </a:xfrm>
          <a:custGeom>
            <a:avLst/>
            <a:gdLst/>
            <a:ahLst/>
            <a:cxnLst/>
            <a:rect l="l" t="t" r="r" b="b"/>
            <a:pathLst>
              <a:path w="323148" h="323915">
                <a:moveTo>
                  <a:pt x="248544" y="12116"/>
                </a:moveTo>
                <a:cubicBezTo>
                  <a:pt x="217529" y="-2426"/>
                  <a:pt x="181982" y="-3940"/>
                  <a:pt x="149843" y="7911"/>
                </a:cubicBezTo>
                <a:cubicBezTo>
                  <a:pt x="103454" y="24989"/>
                  <a:pt x="70787" y="66924"/>
                  <a:pt x="65578" y="116080"/>
                </a:cubicBezTo>
                <a:cubicBezTo>
                  <a:pt x="61792" y="152262"/>
                  <a:pt x="45702" y="186049"/>
                  <a:pt x="19996" y="211791"/>
                </a:cubicBezTo>
                <a:cubicBezTo>
                  <a:pt x="-5030" y="236832"/>
                  <a:pt x="-6805" y="277587"/>
                  <a:pt x="16025" y="302659"/>
                </a:cubicBezTo>
                <a:cubicBezTo>
                  <a:pt x="39960" y="328899"/>
                  <a:pt x="81696" y="332808"/>
                  <a:pt x="111253" y="303266"/>
                </a:cubicBezTo>
                <a:cubicBezTo>
                  <a:pt x="159077" y="255458"/>
                  <a:pt x="208475" y="261375"/>
                  <a:pt x="238188" y="250552"/>
                </a:cubicBezTo>
                <a:cubicBezTo>
                  <a:pt x="287275" y="232674"/>
                  <a:pt x="320760" y="186987"/>
                  <a:pt x="323026" y="134794"/>
                </a:cubicBezTo>
                <a:cubicBezTo>
                  <a:pt x="325293" y="82601"/>
                  <a:pt x="295896" y="34182"/>
                  <a:pt x="248544" y="12116"/>
                </a:cubicBezTo>
                <a:moveTo>
                  <a:pt x="39867" y="280919"/>
                </a:moveTo>
                <a:cubicBezTo>
                  <a:pt x="28468" y="268461"/>
                  <a:pt x="29791" y="247640"/>
                  <a:pt x="42795" y="234637"/>
                </a:cubicBezTo>
                <a:cubicBezTo>
                  <a:pt x="46797" y="230634"/>
                  <a:pt x="50581" y="226430"/>
                  <a:pt x="54225" y="222178"/>
                </a:cubicBezTo>
                <a:lnTo>
                  <a:pt x="101053" y="269006"/>
                </a:lnTo>
                <a:cubicBezTo>
                  <a:pt x="96677" y="272650"/>
                  <a:pt x="92441" y="276465"/>
                  <a:pt x="88392" y="280514"/>
                </a:cubicBezTo>
                <a:cubicBezTo>
                  <a:pt x="72243" y="296663"/>
                  <a:pt x="51843" y="294141"/>
                  <a:pt x="39867" y="280997"/>
                </a:cubicBezTo>
                <a:moveTo>
                  <a:pt x="281807" y="170118"/>
                </a:moveTo>
                <a:cubicBezTo>
                  <a:pt x="271020" y="193484"/>
                  <a:pt x="251322" y="211556"/>
                  <a:pt x="227115" y="220294"/>
                </a:cubicBezTo>
                <a:cubicBezTo>
                  <a:pt x="202681" y="229186"/>
                  <a:pt x="174168" y="224031"/>
                  <a:pt x="128056" y="250350"/>
                </a:cubicBezTo>
                <a:lnTo>
                  <a:pt x="112219" y="234419"/>
                </a:lnTo>
                <a:lnTo>
                  <a:pt x="168701" y="177936"/>
                </a:lnTo>
                <a:lnTo>
                  <a:pt x="230526" y="177936"/>
                </a:lnTo>
                <a:cubicBezTo>
                  <a:pt x="239245" y="177665"/>
                  <a:pt x="246173" y="170518"/>
                  <a:pt x="246173" y="161794"/>
                </a:cubicBezTo>
                <a:cubicBezTo>
                  <a:pt x="246173" y="153071"/>
                  <a:pt x="239245" y="145924"/>
                  <a:pt x="230526" y="145653"/>
                </a:cubicBezTo>
                <a:lnTo>
                  <a:pt x="178170" y="145653"/>
                </a:lnTo>
                <a:lnTo>
                  <a:pt x="178170" y="93313"/>
                </a:lnTo>
                <a:cubicBezTo>
                  <a:pt x="178352" y="87426"/>
                  <a:pt x="175317" y="81907"/>
                  <a:pt x="170248" y="78910"/>
                </a:cubicBezTo>
                <a:cubicBezTo>
                  <a:pt x="165177" y="75913"/>
                  <a:pt x="158880" y="75913"/>
                  <a:pt x="153809" y="78910"/>
                </a:cubicBezTo>
                <a:cubicBezTo>
                  <a:pt x="148740" y="81907"/>
                  <a:pt x="145705" y="87426"/>
                  <a:pt x="145887" y="93313"/>
                </a:cubicBezTo>
                <a:lnTo>
                  <a:pt x="145887" y="155106"/>
                </a:lnTo>
                <a:lnTo>
                  <a:pt x="89389" y="211589"/>
                </a:lnTo>
                <a:lnTo>
                  <a:pt x="73022" y="195206"/>
                </a:lnTo>
                <a:cubicBezTo>
                  <a:pt x="86500" y="171950"/>
                  <a:pt x="94926" y="146113"/>
                  <a:pt x="97751" y="119382"/>
                </a:cubicBezTo>
                <a:cubicBezTo>
                  <a:pt x="101646" y="82514"/>
                  <a:pt x="126141" y="51058"/>
                  <a:pt x="160931" y="38247"/>
                </a:cubicBezTo>
                <a:cubicBezTo>
                  <a:pt x="197718" y="24798"/>
                  <a:pt x="238985" y="34848"/>
                  <a:pt x="265470" y="63706"/>
                </a:cubicBezTo>
                <a:cubicBezTo>
                  <a:pt x="291955" y="92563"/>
                  <a:pt x="298434" y="134539"/>
                  <a:pt x="281885" y="170040"/>
                </a:cubicBezTo>
              </a:path>
            </a:pathLst>
          </a:custGeom>
          <a:solidFill>
            <a:schemeClr val="accent6">
              <a:lumMod val="75000"/>
            </a:schemeClr>
          </a:solidFill>
          <a:ln cap="sq">
            <a:noFill/>
            <a:prstDash val="solid"/>
            <a:bevel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74020" y="1989455"/>
            <a:ext cx="3240000" cy="1944000"/>
          </a:xfrm>
          <a:prstGeom prst="rect">
            <a:avLst/>
          </a:prstGeom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20000"/>
              </a:lnSpc>
            </a:pPr>
            <a:r>
              <a:rPr lang="en-US" sz="1400" b="0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The Smart Health Analyzer consolidates nine key modules into one platform: Dashboard, Health Check, Mental Health, Food Logger, Water Tracker, AI Coach, AI Meals, Calorie Calculator, and Streaks.</a:t>
            </a:r>
          </a:p>
        </p:txBody>
      </p:sp>
      <p:sp>
        <p:nvSpPr>
          <p:cNvPr id="8" name="AutoShape 8"/>
          <p:cNvSpPr/>
          <p:nvPr/>
        </p:nvSpPr>
        <p:spPr>
          <a:xfrm>
            <a:off x="774020" y="4643120"/>
            <a:ext cx="3240000" cy="1944000"/>
          </a:xfrm>
          <a:prstGeom prst="rect">
            <a:avLst/>
          </a:prstGeom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20000"/>
              </a:lnSpc>
            </a:pPr>
            <a:r>
              <a:rPr lang="en-US" sz="1400" b="0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Incentives like streaks and badges gamify health tracking, encouraging consistent user participation.</a:t>
            </a:r>
          </a:p>
        </p:txBody>
      </p:sp>
      <p:sp>
        <p:nvSpPr>
          <p:cNvPr id="9" name="AutoShape 9"/>
          <p:cNvSpPr/>
          <p:nvPr/>
        </p:nvSpPr>
        <p:spPr>
          <a:xfrm>
            <a:off x="4491990" y="1989455"/>
            <a:ext cx="3240000" cy="1944000"/>
          </a:xfrm>
          <a:prstGeom prst="rect">
            <a:avLst/>
          </a:prstGeom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20000"/>
              </a:lnSpc>
            </a:pPr>
            <a:r>
              <a:rPr lang="en-US" sz="1400" b="0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The platform uses only scientifically validated calculations, such as BMI and PHQ-9, ensuring accuracy over feature count.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491990" y="4643120"/>
            <a:ext cx="3240000" cy="1944000"/>
          </a:xfrm>
          <a:prstGeom prst="rect">
            <a:avLst/>
          </a:prstGeom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20000"/>
              </a:lnSpc>
            </a:pPr>
            <a:r>
              <a:rPr lang="en-US" sz="1400" b="0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The platform offers private mental health screening using clinical-grade tools and has no subscription fees, making it accessible to all.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164195" y="1989455"/>
            <a:ext cx="3240000" cy="1944000"/>
          </a:xfrm>
          <a:prstGeom prst="rect">
            <a:avLst/>
          </a:prstGeom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20000"/>
              </a:lnSpc>
            </a:pPr>
            <a:r>
              <a:rPr lang="en-US" sz="1400" b="0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AI-driven meal planning is tailored to individual dietary preferences, enhancing user engagement and effectiveness.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93800" y="1363345"/>
            <a:ext cx="2762885" cy="75438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algn="l">
              <a:defRPr/>
            </a:pPr>
            <a:r>
              <a:rPr lang="en-US" sz="2000" b="1" i="0" u="none" baseline="0"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Nine Integrated Health Modules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4861560" y="1363345"/>
            <a:ext cx="2762885" cy="75438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algn="l">
              <a:defRPr/>
            </a:pPr>
            <a:r>
              <a:rPr lang="en-US" sz="2000" b="1" i="0" u="none" baseline="0"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Scientifically Validated Calculations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529320" y="1363345"/>
            <a:ext cx="2762885" cy="75438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algn="l">
              <a:defRPr/>
            </a:pPr>
            <a:r>
              <a:rPr lang="en-US" sz="2000" b="1" i="0" u="none" baseline="0"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AI-Powered Personalization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93800" y="4021455"/>
            <a:ext cx="2762885" cy="75438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algn="l">
              <a:defRPr/>
            </a:pPr>
            <a:r>
              <a:rPr lang="en-US" sz="2000" b="1" i="0" u="none" baseline="0"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Gamified Habit Tracking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4861560" y="4021455"/>
            <a:ext cx="2762885" cy="75438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algn="l">
              <a:defRPr/>
            </a:pPr>
            <a:r>
              <a:rPr lang="en-US" sz="2000" b="1" i="0" u="none" baseline="0"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Accessible and Private</a:t>
            </a:r>
            <a:endParaRPr lang="en-US" sz="1100"/>
          </a:p>
        </p:txBody>
      </p:sp>
      <p:sp>
        <p:nvSpPr>
          <p:cNvPr id="17" name="Freeform 17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</p:sp>
      <p:sp>
        <p:nvSpPr>
          <p:cNvPr id="18" name="TextBox 1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Our Comprehensive Solution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14520" y="2932430"/>
            <a:ext cx="6370320" cy="18262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4800" b="0" i="0" u="none" baseline="0">
                <a:solidFill>
                  <a:schemeClr val="bg2"/>
                </a:solidFill>
                <a:latin typeface="思源黑体 Medium"/>
                <a:ea typeface="思源黑体 Medium"/>
              </a:rPr>
              <a:t>Technology Stack and System Architecture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5504815" y="1727200"/>
            <a:ext cx="4189730" cy="14090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algn="ctr">
              <a:defRPr/>
            </a:pPr>
            <a:r>
              <a:rPr lang="en-US" sz="6600" b="0" i="0" u="none" baseline="0">
                <a:solidFill>
                  <a:schemeClr val="bg2"/>
                </a:solidFill>
                <a:latin typeface="思源黑体 Medium"/>
                <a:ea typeface="思源黑体 Medium"/>
              </a:rPr>
              <a:t>-02-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 flipV="1">
            <a:off x="589280" y="1296020"/>
            <a:ext cx="3245364" cy="116022"/>
          </a:xfrm>
          <a:custGeom>
            <a:avLst/>
            <a:gdLst/>
            <a:ahLst/>
            <a:cxnLst/>
            <a:rect l="l" t="t" r="r" b="b"/>
            <a:pathLst>
              <a:path w="3245364" h="116022">
                <a:moveTo>
                  <a:pt x="0" y="116022"/>
                </a:moveTo>
                <a:lnTo>
                  <a:pt x="456559" y="116022"/>
                </a:lnTo>
                <a:lnTo>
                  <a:pt x="547120" y="0"/>
                </a:lnTo>
                <a:lnTo>
                  <a:pt x="637681" y="116022"/>
                </a:lnTo>
                <a:lnTo>
                  <a:pt x="3245364" y="116022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90170" tIns="46990" rIns="90170" bIns="4699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6" name="Freeform 6"/>
          <p:cNvSpPr/>
          <p:nvPr/>
        </p:nvSpPr>
        <p:spPr>
          <a:xfrm flipV="1">
            <a:off x="4191000" y="1296320"/>
            <a:ext cx="3239268" cy="122118"/>
          </a:xfrm>
          <a:custGeom>
            <a:avLst/>
            <a:gdLst/>
            <a:ahLst/>
            <a:cxnLst/>
            <a:rect l="l" t="t" r="r" b="b"/>
            <a:pathLst>
              <a:path w="3239268" h="122118">
                <a:moveTo>
                  <a:pt x="0" y="116022"/>
                </a:moveTo>
                <a:lnTo>
                  <a:pt x="456559" y="116022"/>
                </a:lnTo>
                <a:lnTo>
                  <a:pt x="547120" y="0"/>
                </a:lnTo>
                <a:lnTo>
                  <a:pt x="637681" y="116022"/>
                </a:lnTo>
                <a:lnTo>
                  <a:pt x="3239268" y="122118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90170" tIns="46990" rIns="90170" bIns="4699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7" name="Freeform 7"/>
          <p:cNvSpPr/>
          <p:nvPr/>
        </p:nvSpPr>
        <p:spPr>
          <a:xfrm flipV="1">
            <a:off x="8077200" y="1296020"/>
            <a:ext cx="3245364" cy="116022"/>
          </a:xfrm>
          <a:custGeom>
            <a:avLst/>
            <a:gdLst/>
            <a:ahLst/>
            <a:cxnLst/>
            <a:rect l="l" t="t" r="r" b="b"/>
            <a:pathLst>
              <a:path w="3245364" h="116022">
                <a:moveTo>
                  <a:pt x="0" y="116022"/>
                </a:moveTo>
                <a:lnTo>
                  <a:pt x="456559" y="116022"/>
                </a:lnTo>
                <a:lnTo>
                  <a:pt x="547120" y="0"/>
                </a:lnTo>
                <a:lnTo>
                  <a:pt x="637681" y="116022"/>
                </a:lnTo>
                <a:lnTo>
                  <a:pt x="3245364" y="116022"/>
                </a:lnTo>
              </a:path>
            </a:pathLst>
          </a:custGeom>
          <a:noFill/>
          <a:ln>
            <a:solidFill>
              <a:schemeClr val="accent1"/>
            </a:solidFill>
          </a:ln>
        </p:spPr>
        <p:txBody>
          <a:bodyPr vert="horz" wrap="square" lIns="90170" tIns="46990" rIns="90170" bIns="4699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551497" y="2259000"/>
            <a:ext cx="3420110" cy="234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The frontend uses React 18 for its component-based architecture and Vite for fast build times, styled with Tailwind CSS.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4470995" y="2259000"/>
            <a:ext cx="3420110" cy="234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 dirty="0">
                <a:solidFill>
                  <a:schemeClr val="bg1"/>
                </a:solidFill>
                <a:latin typeface="思源黑体 Normal"/>
                <a:ea typeface="思源黑体 Normal"/>
              </a:rPr>
              <a:t>The backend is built with Python 3.10+ and </a:t>
            </a:r>
            <a:r>
              <a:rPr lang="en-US" sz="1500" b="0" i="0" u="none" baseline="0" dirty="0" err="1">
                <a:solidFill>
                  <a:schemeClr val="bg1"/>
                </a:solidFill>
                <a:latin typeface="思源黑体 Normal"/>
                <a:ea typeface="思源黑体 Normal"/>
              </a:rPr>
              <a:t>FastAPI</a:t>
            </a:r>
            <a:r>
              <a:rPr lang="en-US" sz="1500" b="0" i="0" u="none" baseline="0" dirty="0">
                <a:solidFill>
                  <a:schemeClr val="bg1"/>
                </a:solidFill>
                <a:latin typeface="思源黑体 Normal"/>
                <a:ea typeface="思源黑体 Normal"/>
              </a:rPr>
              <a:t>, using </a:t>
            </a:r>
            <a:r>
              <a:rPr lang="en-US" sz="1500" b="0" i="0" u="none" baseline="0" dirty="0" err="1">
                <a:solidFill>
                  <a:schemeClr val="bg1"/>
                </a:solidFill>
                <a:latin typeface="思源黑体 Normal"/>
                <a:ea typeface="思源黑体 Normal"/>
              </a:rPr>
              <a:t>Pydantic</a:t>
            </a:r>
            <a:r>
              <a:rPr lang="en-US" sz="1500" b="0" i="0" u="none" baseline="0" dirty="0">
                <a:solidFill>
                  <a:schemeClr val="bg1"/>
                </a:solidFill>
                <a:latin typeface="思源黑体 Normal"/>
                <a:ea typeface="思源黑体 Normal"/>
              </a:rPr>
              <a:t> for data validation and </a:t>
            </a:r>
            <a:r>
              <a:rPr lang="en-US" sz="1500" b="0" i="0" u="none" baseline="0" dirty="0" err="1">
                <a:solidFill>
                  <a:schemeClr val="bg1"/>
                </a:solidFill>
                <a:latin typeface="思源黑体 Normal"/>
                <a:ea typeface="思源黑体 Normal"/>
              </a:rPr>
              <a:t>Supabase</a:t>
            </a:r>
            <a:r>
              <a:rPr lang="en-US" sz="1500" b="0" i="0" u="none" baseline="0" dirty="0">
                <a:solidFill>
                  <a:schemeClr val="bg1"/>
                </a:solidFill>
                <a:latin typeface="思源黑体 Normal"/>
                <a:ea typeface="思源黑体 Normal"/>
              </a:rPr>
              <a:t> for PostgreSQL database and authentication.</a:t>
            </a:r>
            <a:endParaRPr lang="en-US" sz="1100" dirty="0"/>
          </a:p>
        </p:txBody>
      </p:sp>
      <p:sp>
        <p:nvSpPr>
          <p:cNvPr id="10" name="TextBox 10"/>
          <p:cNvSpPr txBox="1"/>
          <p:nvPr/>
        </p:nvSpPr>
        <p:spPr>
          <a:xfrm>
            <a:off x="8220395" y="2259000"/>
            <a:ext cx="3420110" cy="234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 dirty="0">
                <a:solidFill>
                  <a:schemeClr val="bg1"/>
                </a:solidFill>
                <a:latin typeface="思源黑体 Normal"/>
                <a:ea typeface="思源黑体 Normal"/>
              </a:rPr>
              <a:t>AI functionalities are powered by NVIDIA API, with a fallback to Google Gemini API, ensuring reliable AI features.</a:t>
            </a:r>
            <a:endParaRPr lang="en-US" sz="1100" dirty="0"/>
          </a:p>
        </p:txBody>
      </p:sp>
      <p:sp>
        <p:nvSpPr>
          <p:cNvPr id="11" name="TextBox 11"/>
          <p:cNvSpPr txBox="1"/>
          <p:nvPr/>
        </p:nvSpPr>
        <p:spPr>
          <a:xfrm>
            <a:off x="4472415" y="1600200"/>
            <a:ext cx="3420000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 dirty="0" err="1"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FastAPI</a:t>
            </a:r>
            <a:r>
              <a:rPr lang="en-US" sz="2000" b="1" i="0" u="none" baseline="0" dirty="0"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 and </a:t>
            </a:r>
            <a:r>
              <a:rPr lang="en-US" sz="2000" b="1" i="0" u="none" baseline="0" dirty="0" err="1"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Supabase</a:t>
            </a:r>
            <a:r>
              <a:rPr lang="en-US" sz="2000" b="1" i="0" u="none" baseline="0" dirty="0"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 for Backend</a:t>
            </a:r>
            <a:endParaRPr lang="en-US" sz="1100" dirty="0"/>
          </a:p>
        </p:txBody>
      </p:sp>
      <p:sp>
        <p:nvSpPr>
          <p:cNvPr id="12" name="TextBox 12"/>
          <p:cNvSpPr txBox="1"/>
          <p:nvPr/>
        </p:nvSpPr>
        <p:spPr>
          <a:xfrm>
            <a:off x="8161050" y="1600200"/>
            <a:ext cx="3420000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 dirty="0"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AI Integration with NVIDIA API</a:t>
            </a:r>
            <a:endParaRPr lang="en-US" sz="1100" dirty="0"/>
          </a:p>
        </p:txBody>
      </p:sp>
      <p:sp>
        <p:nvSpPr>
          <p:cNvPr id="13" name="TextBox 13"/>
          <p:cNvSpPr txBox="1"/>
          <p:nvPr/>
        </p:nvSpPr>
        <p:spPr>
          <a:xfrm>
            <a:off x="551497" y="1668567"/>
            <a:ext cx="3420000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 dirty="0"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React 18 for Frontend</a:t>
            </a:r>
            <a:endParaRPr lang="en-US" sz="1100" dirty="0"/>
          </a:p>
        </p:txBody>
      </p:sp>
      <p:sp>
        <p:nvSpPr>
          <p:cNvPr id="14" name="Freeform 1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</p:sp>
      <p:sp>
        <p:nvSpPr>
          <p:cNvPr id="15" name="TextBox 1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Frontend and Backend Technologies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319" y="2417534"/>
            <a:ext cx="12205318" cy="4440466"/>
          </a:xfrm>
          <a:custGeom>
            <a:avLst/>
            <a:gdLst/>
            <a:ahLst/>
            <a:cxnLst/>
            <a:rect l="l" t="t" r="r" b="b"/>
            <a:pathLst>
              <a:path w="12205318" h="4440466">
                <a:moveTo>
                  <a:pt x="0" y="0"/>
                </a:moveTo>
                <a:lnTo>
                  <a:pt x="1378933" y="0"/>
                </a:lnTo>
                <a:lnTo>
                  <a:pt x="1388136" y="60299"/>
                </a:lnTo>
                <a:cubicBezTo>
                  <a:pt x="1460309" y="412998"/>
                  <a:pt x="1772377" y="678311"/>
                  <a:pt x="2146411" y="678311"/>
                </a:cubicBezTo>
                <a:cubicBezTo>
                  <a:pt x="2520446" y="678311"/>
                  <a:pt x="2832514" y="412998"/>
                  <a:pt x="2904686" y="60299"/>
                </a:cubicBezTo>
                <a:lnTo>
                  <a:pt x="2913889" y="0"/>
                </a:lnTo>
                <a:lnTo>
                  <a:pt x="5341841" y="0"/>
                </a:lnTo>
                <a:lnTo>
                  <a:pt x="5351044" y="60299"/>
                </a:lnTo>
                <a:cubicBezTo>
                  <a:pt x="5423217" y="412998"/>
                  <a:pt x="5735285" y="678311"/>
                  <a:pt x="6109319" y="678311"/>
                </a:cubicBezTo>
                <a:cubicBezTo>
                  <a:pt x="6483354" y="678311"/>
                  <a:pt x="6795422" y="412998"/>
                  <a:pt x="6867594" y="60299"/>
                </a:cubicBezTo>
                <a:lnTo>
                  <a:pt x="6876797" y="0"/>
                </a:lnTo>
                <a:lnTo>
                  <a:pt x="9304749" y="0"/>
                </a:lnTo>
                <a:lnTo>
                  <a:pt x="9313952" y="60299"/>
                </a:lnTo>
                <a:cubicBezTo>
                  <a:pt x="9386125" y="412998"/>
                  <a:pt x="9698193" y="678311"/>
                  <a:pt x="10072227" y="678311"/>
                </a:cubicBezTo>
                <a:cubicBezTo>
                  <a:pt x="10446261" y="678311"/>
                  <a:pt x="10758329" y="412998"/>
                  <a:pt x="10830502" y="60299"/>
                </a:cubicBezTo>
                <a:lnTo>
                  <a:pt x="10839705" y="0"/>
                </a:lnTo>
                <a:lnTo>
                  <a:pt x="12205318" y="0"/>
                </a:lnTo>
                <a:lnTo>
                  <a:pt x="12205318" y="4440466"/>
                </a:lnTo>
                <a:lnTo>
                  <a:pt x="0" y="4440466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10000"/>
              <a:lumMod val="85000"/>
            </a:schemeClr>
          </a:solidFill>
          <a:ln>
            <a:noFill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9500908" y="1751145"/>
            <a:ext cx="1116000" cy="1116000"/>
          </a:xfrm>
          <a:prstGeom prst="ellipse">
            <a:avLst/>
          </a:prstGeom>
          <a:noFill/>
          <a:ln w="31750">
            <a:solidFill>
              <a:schemeClr val="accent1">
                <a:alpha val="80000"/>
              </a:schemeClr>
            </a:solidFill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575092" y="1751145"/>
            <a:ext cx="1116000" cy="1116000"/>
          </a:xfrm>
          <a:prstGeom prst="ellipse">
            <a:avLst/>
          </a:prstGeom>
          <a:noFill/>
          <a:ln w="31750">
            <a:solidFill>
              <a:schemeClr val="accent1">
                <a:alpha val="80000"/>
              </a:schemeClr>
            </a:solidFill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538000" y="1751145"/>
            <a:ext cx="1116000" cy="1116000"/>
          </a:xfrm>
          <a:prstGeom prst="ellipse">
            <a:avLst/>
          </a:prstGeom>
          <a:noFill/>
          <a:ln w="31750">
            <a:solidFill>
              <a:schemeClr val="accent1">
                <a:alpha val="80000"/>
              </a:schemeClr>
            </a:solidFill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9824907" y="2096417"/>
            <a:ext cx="467999" cy="425454"/>
          </a:xfrm>
          <a:custGeom>
            <a:avLst/>
            <a:gdLst/>
            <a:ahLst/>
            <a:cxnLst/>
            <a:rect l="l" t="t" r="r" b="b"/>
            <a:pathLst>
              <a:path w="467999" h="425454">
                <a:moveTo>
                  <a:pt x="411103" y="-400"/>
                </a:moveTo>
                <a:lnTo>
                  <a:pt x="56129" y="-400"/>
                </a:lnTo>
                <a:cubicBezTo>
                  <a:pt x="18116" y="-400"/>
                  <a:pt x="-384" y="18959"/>
                  <a:pt x="-384" y="57570"/>
                </a:cubicBezTo>
                <a:lnTo>
                  <a:pt x="-384" y="289653"/>
                </a:lnTo>
                <a:cubicBezTo>
                  <a:pt x="-384" y="328367"/>
                  <a:pt x="16975" y="346660"/>
                  <a:pt x="54032" y="346660"/>
                </a:cubicBezTo>
                <a:lnTo>
                  <a:pt x="108450" y="346660"/>
                </a:lnTo>
                <a:lnTo>
                  <a:pt x="101751" y="405693"/>
                </a:lnTo>
                <a:cubicBezTo>
                  <a:pt x="101751" y="412806"/>
                  <a:pt x="105569" y="419365"/>
                  <a:pt x="111699" y="422717"/>
                </a:cubicBezTo>
                <a:cubicBezTo>
                  <a:pt x="117799" y="426144"/>
                  <a:pt x="125282" y="425779"/>
                  <a:pt x="131026" y="421771"/>
                </a:cubicBezTo>
                <a:lnTo>
                  <a:pt x="239060" y="346674"/>
                </a:lnTo>
                <a:lnTo>
                  <a:pt x="413199" y="346674"/>
                </a:lnTo>
                <a:cubicBezTo>
                  <a:pt x="450882" y="346674"/>
                  <a:pt x="467616" y="328382"/>
                  <a:pt x="467616" y="289667"/>
                </a:cubicBezTo>
                <a:lnTo>
                  <a:pt x="467616" y="57570"/>
                </a:lnTo>
                <a:cubicBezTo>
                  <a:pt x="467616" y="18959"/>
                  <a:pt x="448787" y="-371"/>
                  <a:pt x="411103" y="-400"/>
                </a:cubicBezTo>
                <a:moveTo>
                  <a:pt x="124896" y="201160"/>
                </a:moveTo>
                <a:cubicBezTo>
                  <a:pt x="113823" y="201229"/>
                  <a:pt x="103798" y="194467"/>
                  <a:pt x="99505" y="184026"/>
                </a:cubicBezTo>
                <a:cubicBezTo>
                  <a:pt x="95211" y="173587"/>
                  <a:pt x="97492" y="161529"/>
                  <a:pt x="105284" y="153482"/>
                </a:cubicBezTo>
                <a:cubicBezTo>
                  <a:pt x="113997" y="144506"/>
                  <a:pt x="127516" y="142628"/>
                  <a:pt x="138254" y="148897"/>
                </a:cubicBezTo>
                <a:cubicBezTo>
                  <a:pt x="148994" y="155167"/>
                  <a:pt x="154283" y="168027"/>
                  <a:pt x="151157" y="180264"/>
                </a:cubicBezTo>
                <a:cubicBezTo>
                  <a:pt x="148028" y="192499"/>
                  <a:pt x="137263" y="201066"/>
                  <a:pt x="124896" y="201160"/>
                </a:cubicBezTo>
                <a:moveTo>
                  <a:pt x="233559" y="201160"/>
                </a:moveTo>
                <a:cubicBezTo>
                  <a:pt x="222515" y="201150"/>
                  <a:pt x="212561" y="194343"/>
                  <a:pt x="208333" y="183908"/>
                </a:cubicBezTo>
                <a:cubicBezTo>
                  <a:pt x="204104" y="173474"/>
                  <a:pt x="206429" y="161461"/>
                  <a:pt x="214226" y="153463"/>
                </a:cubicBezTo>
                <a:cubicBezTo>
                  <a:pt x="222025" y="145464"/>
                  <a:pt x="233763" y="143052"/>
                  <a:pt x="243978" y="147344"/>
                </a:cubicBezTo>
                <a:cubicBezTo>
                  <a:pt x="255994" y="152470"/>
                  <a:pt x="262816" y="165547"/>
                  <a:pt x="260286" y="178610"/>
                </a:cubicBezTo>
                <a:cubicBezTo>
                  <a:pt x="257756" y="191672"/>
                  <a:pt x="246579" y="201103"/>
                  <a:pt x="233559" y="201160"/>
                </a:cubicBezTo>
                <a:moveTo>
                  <a:pt x="342377" y="201160"/>
                </a:moveTo>
                <a:cubicBezTo>
                  <a:pt x="331333" y="201150"/>
                  <a:pt x="321380" y="194343"/>
                  <a:pt x="317152" y="183908"/>
                </a:cubicBezTo>
                <a:cubicBezTo>
                  <a:pt x="312921" y="173474"/>
                  <a:pt x="315248" y="161461"/>
                  <a:pt x="323046" y="153463"/>
                </a:cubicBezTo>
                <a:cubicBezTo>
                  <a:pt x="330843" y="145464"/>
                  <a:pt x="342582" y="143052"/>
                  <a:pt x="352797" y="147344"/>
                </a:cubicBezTo>
                <a:cubicBezTo>
                  <a:pt x="361231" y="150920"/>
                  <a:pt x="367366" y="158560"/>
                  <a:pt x="369155" y="167716"/>
                </a:cubicBezTo>
                <a:cubicBezTo>
                  <a:pt x="370944" y="176873"/>
                  <a:pt x="368150" y="186340"/>
                  <a:pt x="361703" y="192954"/>
                </a:cubicBezTo>
                <a:cubicBezTo>
                  <a:pt x="356574" y="198187"/>
                  <a:pt x="349631" y="201160"/>
                  <a:pt x="342377" y="201160"/>
                </a:cubicBezTo>
              </a:path>
            </a:pathLst>
          </a:custGeom>
          <a:solidFill>
            <a:schemeClr val="accent1"/>
          </a:solidFill>
          <a:ln cap="flat">
            <a:noFill/>
            <a:prstDash val="solid"/>
            <a:miter lim="800000"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1899092" y="2091913"/>
            <a:ext cx="467999" cy="434462"/>
          </a:xfrm>
          <a:custGeom>
            <a:avLst/>
            <a:gdLst/>
            <a:ahLst/>
            <a:cxnLst/>
            <a:rect l="l" t="t" r="r" b="b"/>
            <a:pathLst>
              <a:path w="467999" h="434462">
                <a:moveTo>
                  <a:pt x="413196" y="115"/>
                </a:moveTo>
                <a:lnTo>
                  <a:pt x="53838" y="115"/>
                </a:lnTo>
                <a:cubicBezTo>
                  <a:pt x="23992" y="115"/>
                  <a:pt x="114" y="24185"/>
                  <a:pt x="114" y="54272"/>
                </a:cubicBezTo>
                <a:lnTo>
                  <a:pt x="114" y="287751"/>
                </a:lnTo>
                <a:cubicBezTo>
                  <a:pt x="114" y="317838"/>
                  <a:pt x="23992" y="341908"/>
                  <a:pt x="53838" y="341908"/>
                </a:cubicBezTo>
                <a:lnTo>
                  <a:pt x="188747" y="341908"/>
                </a:lnTo>
                <a:lnTo>
                  <a:pt x="188747" y="408101"/>
                </a:lnTo>
                <a:lnTo>
                  <a:pt x="114726" y="408101"/>
                </a:lnTo>
                <a:cubicBezTo>
                  <a:pt x="107563" y="408101"/>
                  <a:pt x="101594" y="414119"/>
                  <a:pt x="101594" y="421339"/>
                </a:cubicBezTo>
                <a:cubicBezTo>
                  <a:pt x="101594" y="428561"/>
                  <a:pt x="107563" y="434578"/>
                  <a:pt x="114726" y="434578"/>
                </a:cubicBezTo>
                <a:lnTo>
                  <a:pt x="342757" y="434578"/>
                </a:lnTo>
                <a:cubicBezTo>
                  <a:pt x="349921" y="434578"/>
                  <a:pt x="355890" y="428561"/>
                  <a:pt x="355890" y="421339"/>
                </a:cubicBezTo>
                <a:cubicBezTo>
                  <a:pt x="355890" y="414119"/>
                  <a:pt x="349921" y="408101"/>
                  <a:pt x="342757" y="408101"/>
                </a:cubicBezTo>
                <a:lnTo>
                  <a:pt x="269931" y="408101"/>
                </a:lnTo>
                <a:lnTo>
                  <a:pt x="269931" y="341908"/>
                </a:lnTo>
                <a:lnTo>
                  <a:pt x="414389" y="341908"/>
                </a:lnTo>
                <a:cubicBezTo>
                  <a:pt x="444237" y="341908"/>
                  <a:pt x="468114" y="317838"/>
                  <a:pt x="468114" y="287751"/>
                </a:cubicBezTo>
                <a:lnTo>
                  <a:pt x="468114" y="54272"/>
                </a:lnTo>
                <a:cubicBezTo>
                  <a:pt x="466920" y="25388"/>
                  <a:pt x="443042" y="115"/>
                  <a:pt x="413196" y="115"/>
                </a:cubicBezTo>
                <a:moveTo>
                  <a:pt x="389317" y="80749"/>
                </a:moveTo>
                <a:cubicBezTo>
                  <a:pt x="389317" y="80749"/>
                  <a:pt x="389317" y="81953"/>
                  <a:pt x="389317" y="80749"/>
                </a:cubicBezTo>
                <a:lnTo>
                  <a:pt x="389317" y="81953"/>
                </a:lnTo>
                <a:lnTo>
                  <a:pt x="255605" y="261275"/>
                </a:lnTo>
                <a:lnTo>
                  <a:pt x="252023" y="258867"/>
                </a:lnTo>
                <a:lnTo>
                  <a:pt x="146961" y="181844"/>
                </a:lnTo>
                <a:lnTo>
                  <a:pt x="109951" y="229983"/>
                </a:lnTo>
                <a:cubicBezTo>
                  <a:pt x="106369" y="236001"/>
                  <a:pt x="99206" y="238408"/>
                  <a:pt x="93236" y="236001"/>
                </a:cubicBezTo>
                <a:cubicBezTo>
                  <a:pt x="86073" y="233593"/>
                  <a:pt x="82491" y="225169"/>
                  <a:pt x="84879" y="217948"/>
                </a:cubicBezTo>
                <a:cubicBezTo>
                  <a:pt x="84879" y="216746"/>
                  <a:pt x="84879" y="216746"/>
                  <a:pt x="86073" y="215541"/>
                </a:cubicBezTo>
                <a:lnTo>
                  <a:pt x="136216" y="149349"/>
                </a:lnTo>
                <a:lnTo>
                  <a:pt x="140992" y="143331"/>
                </a:lnTo>
                <a:lnTo>
                  <a:pt x="249634" y="223966"/>
                </a:lnTo>
                <a:lnTo>
                  <a:pt x="367829" y="66307"/>
                </a:lnTo>
                <a:cubicBezTo>
                  <a:pt x="371411" y="62697"/>
                  <a:pt x="377380" y="61493"/>
                  <a:pt x="382154" y="63900"/>
                </a:cubicBezTo>
                <a:cubicBezTo>
                  <a:pt x="389317" y="66307"/>
                  <a:pt x="392899" y="73528"/>
                  <a:pt x="389317" y="80749"/>
                </a:cubicBezTo>
              </a:path>
            </a:pathLst>
          </a:custGeom>
          <a:solidFill>
            <a:schemeClr val="accent1"/>
          </a:solidFill>
          <a:ln cap="flat">
            <a:noFill/>
            <a:prstDash val="solid"/>
            <a:miter lim="800000"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5862094" y="2075145"/>
            <a:ext cx="467811" cy="467999"/>
          </a:xfrm>
          <a:custGeom>
            <a:avLst/>
            <a:gdLst/>
            <a:ahLst/>
            <a:cxnLst/>
            <a:rect l="l" t="t" r="r" b="b"/>
            <a:pathLst>
              <a:path w="467811" h="467999">
                <a:moveTo>
                  <a:pt x="424917" y="114"/>
                </a:moveTo>
                <a:lnTo>
                  <a:pt x="341919" y="114"/>
                </a:lnTo>
                <a:lnTo>
                  <a:pt x="339655" y="114"/>
                </a:lnTo>
                <a:lnTo>
                  <a:pt x="73304" y="870"/>
                </a:lnTo>
                <a:cubicBezTo>
                  <a:pt x="49913" y="870"/>
                  <a:pt x="31050" y="19772"/>
                  <a:pt x="31050" y="43209"/>
                </a:cubicBezTo>
                <a:lnTo>
                  <a:pt x="31050" y="106718"/>
                </a:lnTo>
                <a:lnTo>
                  <a:pt x="79340" y="106718"/>
                </a:lnTo>
                <a:cubicBezTo>
                  <a:pt x="88395" y="106718"/>
                  <a:pt x="95185" y="113523"/>
                  <a:pt x="95185" y="122595"/>
                </a:cubicBezTo>
                <a:lnTo>
                  <a:pt x="95185" y="133180"/>
                </a:lnTo>
                <a:cubicBezTo>
                  <a:pt x="95185" y="142253"/>
                  <a:pt x="88395" y="149058"/>
                  <a:pt x="79340" y="149058"/>
                </a:cubicBezTo>
                <a:lnTo>
                  <a:pt x="74059" y="149058"/>
                </a:lnTo>
                <a:lnTo>
                  <a:pt x="74059" y="143765"/>
                </a:lnTo>
                <a:cubicBezTo>
                  <a:pt x="74059" y="134692"/>
                  <a:pt x="67268" y="127888"/>
                  <a:pt x="58213" y="127888"/>
                </a:cubicBezTo>
                <a:lnTo>
                  <a:pt x="14450" y="127888"/>
                </a:lnTo>
                <a:cubicBezTo>
                  <a:pt x="8414" y="128644"/>
                  <a:pt x="3132" y="132424"/>
                  <a:pt x="869" y="138473"/>
                </a:cubicBezTo>
                <a:cubicBezTo>
                  <a:pt x="114" y="139985"/>
                  <a:pt x="114" y="142253"/>
                  <a:pt x="114" y="143765"/>
                </a:cubicBezTo>
                <a:lnTo>
                  <a:pt x="114" y="154350"/>
                </a:lnTo>
                <a:cubicBezTo>
                  <a:pt x="114" y="163423"/>
                  <a:pt x="6905" y="170226"/>
                  <a:pt x="15959" y="170226"/>
                </a:cubicBezTo>
                <a:lnTo>
                  <a:pt x="31804" y="170226"/>
                </a:lnTo>
                <a:lnTo>
                  <a:pt x="31804" y="287416"/>
                </a:lnTo>
                <a:lnTo>
                  <a:pt x="80095" y="287416"/>
                </a:lnTo>
                <a:cubicBezTo>
                  <a:pt x="89149" y="287416"/>
                  <a:pt x="95940" y="294221"/>
                  <a:pt x="95940" y="303294"/>
                </a:cubicBezTo>
                <a:lnTo>
                  <a:pt x="95940" y="313877"/>
                </a:lnTo>
                <a:cubicBezTo>
                  <a:pt x="95940" y="322951"/>
                  <a:pt x="89149" y="329756"/>
                  <a:pt x="80095" y="329756"/>
                </a:cubicBezTo>
                <a:lnTo>
                  <a:pt x="74813" y="329756"/>
                </a:lnTo>
                <a:lnTo>
                  <a:pt x="74813" y="325220"/>
                </a:lnTo>
                <a:cubicBezTo>
                  <a:pt x="74813" y="316147"/>
                  <a:pt x="68022" y="309342"/>
                  <a:pt x="58968" y="309342"/>
                </a:cubicBezTo>
                <a:lnTo>
                  <a:pt x="15205" y="309342"/>
                </a:lnTo>
                <a:cubicBezTo>
                  <a:pt x="9168" y="310098"/>
                  <a:pt x="3887" y="313877"/>
                  <a:pt x="1623" y="319927"/>
                </a:cubicBezTo>
                <a:cubicBezTo>
                  <a:pt x="869" y="321439"/>
                  <a:pt x="869" y="323706"/>
                  <a:pt x="869" y="325220"/>
                </a:cubicBezTo>
                <a:lnTo>
                  <a:pt x="869" y="335803"/>
                </a:lnTo>
                <a:cubicBezTo>
                  <a:pt x="869" y="344876"/>
                  <a:pt x="7659" y="351681"/>
                  <a:pt x="16714" y="351681"/>
                </a:cubicBezTo>
                <a:lnTo>
                  <a:pt x="32559" y="351681"/>
                </a:lnTo>
                <a:lnTo>
                  <a:pt x="32559" y="425776"/>
                </a:lnTo>
                <a:cubicBezTo>
                  <a:pt x="32559" y="449213"/>
                  <a:pt x="51422" y="468113"/>
                  <a:pt x="74813" y="468113"/>
                </a:cubicBezTo>
                <a:lnTo>
                  <a:pt x="425672" y="468113"/>
                </a:lnTo>
                <a:cubicBezTo>
                  <a:pt x="449062" y="468113"/>
                  <a:pt x="467926" y="449213"/>
                  <a:pt x="467926" y="425776"/>
                </a:cubicBezTo>
                <a:lnTo>
                  <a:pt x="467926" y="42453"/>
                </a:lnTo>
                <a:cubicBezTo>
                  <a:pt x="467172" y="19015"/>
                  <a:pt x="448308" y="114"/>
                  <a:pt x="424917" y="114"/>
                </a:cubicBezTo>
                <a:moveTo>
                  <a:pt x="393982" y="346388"/>
                </a:moveTo>
                <a:cubicBezTo>
                  <a:pt x="393982" y="346388"/>
                  <a:pt x="393228" y="347902"/>
                  <a:pt x="393228" y="348658"/>
                </a:cubicBezTo>
                <a:cubicBezTo>
                  <a:pt x="392472" y="350169"/>
                  <a:pt x="390209" y="352437"/>
                  <a:pt x="388701" y="353949"/>
                </a:cubicBezTo>
                <a:lnTo>
                  <a:pt x="384173" y="356217"/>
                </a:lnTo>
                <a:lnTo>
                  <a:pt x="381154" y="356973"/>
                </a:lnTo>
                <a:lnTo>
                  <a:pt x="153285" y="356973"/>
                </a:lnTo>
                <a:cubicBezTo>
                  <a:pt x="151776" y="356217"/>
                  <a:pt x="149512" y="355461"/>
                  <a:pt x="148003" y="354705"/>
                </a:cubicBezTo>
                <a:cubicBezTo>
                  <a:pt x="146494" y="353949"/>
                  <a:pt x="144985" y="351681"/>
                  <a:pt x="144230" y="349414"/>
                </a:cubicBezTo>
                <a:cubicBezTo>
                  <a:pt x="144230" y="348658"/>
                  <a:pt x="143476" y="347144"/>
                  <a:pt x="143476" y="347144"/>
                </a:cubicBezTo>
                <a:cubicBezTo>
                  <a:pt x="142721" y="346388"/>
                  <a:pt x="140458" y="336561"/>
                  <a:pt x="143476" y="325976"/>
                </a:cubicBezTo>
                <a:lnTo>
                  <a:pt x="143476" y="325220"/>
                </a:lnTo>
                <a:lnTo>
                  <a:pt x="144230" y="324462"/>
                </a:lnTo>
                <a:cubicBezTo>
                  <a:pt x="151776" y="314635"/>
                  <a:pt x="169885" y="304050"/>
                  <a:pt x="189503" y="293465"/>
                </a:cubicBezTo>
                <a:cubicBezTo>
                  <a:pt x="207612" y="283636"/>
                  <a:pt x="234020" y="268514"/>
                  <a:pt x="234020" y="260955"/>
                </a:cubicBezTo>
                <a:lnTo>
                  <a:pt x="234020" y="256417"/>
                </a:lnTo>
                <a:cubicBezTo>
                  <a:pt x="234020" y="254150"/>
                  <a:pt x="233265" y="252638"/>
                  <a:pt x="231757" y="251126"/>
                </a:cubicBezTo>
                <a:cubicBezTo>
                  <a:pt x="215911" y="235248"/>
                  <a:pt x="207612" y="213322"/>
                  <a:pt x="207612" y="189884"/>
                </a:cubicBezTo>
                <a:cubicBezTo>
                  <a:pt x="207612" y="152082"/>
                  <a:pt x="215156" y="112767"/>
                  <a:pt x="268728" y="112767"/>
                </a:cubicBezTo>
                <a:cubicBezTo>
                  <a:pt x="322301" y="112767"/>
                  <a:pt x="329846" y="151326"/>
                  <a:pt x="329846" y="189884"/>
                </a:cubicBezTo>
                <a:cubicBezTo>
                  <a:pt x="329846" y="213322"/>
                  <a:pt x="321547" y="235248"/>
                  <a:pt x="305701" y="251126"/>
                </a:cubicBezTo>
                <a:cubicBezTo>
                  <a:pt x="304192" y="252638"/>
                  <a:pt x="303438" y="254150"/>
                  <a:pt x="303438" y="256417"/>
                </a:cubicBezTo>
                <a:lnTo>
                  <a:pt x="303438" y="260955"/>
                </a:lnTo>
                <a:cubicBezTo>
                  <a:pt x="303438" y="268514"/>
                  <a:pt x="330600" y="283636"/>
                  <a:pt x="347955" y="293465"/>
                </a:cubicBezTo>
                <a:cubicBezTo>
                  <a:pt x="367573" y="304050"/>
                  <a:pt x="385682" y="314635"/>
                  <a:pt x="393228" y="324462"/>
                </a:cubicBezTo>
                <a:lnTo>
                  <a:pt x="393982" y="325220"/>
                </a:lnTo>
                <a:lnTo>
                  <a:pt x="393982" y="325976"/>
                </a:lnTo>
                <a:cubicBezTo>
                  <a:pt x="397755" y="335803"/>
                  <a:pt x="394736" y="345632"/>
                  <a:pt x="393982" y="346388"/>
                </a:cubicBezTo>
              </a:path>
            </a:pathLst>
          </a:custGeom>
          <a:solidFill>
            <a:schemeClr val="accent1"/>
          </a:solidFill>
          <a:ln cap="flat">
            <a:noFill/>
            <a:prstDash val="solid"/>
            <a:miter lim="800000"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426085" y="3978275"/>
            <a:ext cx="3420110" cy="273875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Users interact with the React frontend, which sends requests to the FastAPI backend via Axios for processing.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426085" y="3229610"/>
            <a:ext cx="3420745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ctr" fontAlgn="auto">
              <a:lnSpc>
                <a:spcPct val="120000"/>
              </a:lnSpc>
              <a:defRPr/>
            </a:pPr>
            <a:r>
              <a:rPr lang="en-US" sz="2000" b="1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User Interaction and API Requests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4378960" y="3978275"/>
            <a:ext cx="3420110" cy="273875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FastAPI validates requests using Pydantic and interacts with Supabase for data storage and retrieval.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4378960" y="3229610"/>
            <a:ext cx="3420745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ctr" fontAlgn="auto">
              <a:lnSpc>
                <a:spcPct val="120000"/>
              </a:lnSpc>
              <a:defRPr/>
            </a:pPr>
            <a:r>
              <a:rPr lang="en-US" sz="2000" b="1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Backend Validation and Data Handling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8345805" y="3978275"/>
            <a:ext cx="3420110" cy="273875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For AI features, the backend communicates with the NVIDIA API, with a fallback to Google Gemini API if necessary.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8345805" y="3229610"/>
            <a:ext cx="3420745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ctr" fontAlgn="auto">
              <a:lnSpc>
                <a:spcPct val="108000"/>
              </a:lnSpc>
              <a:defRPr/>
            </a:pPr>
            <a:r>
              <a:rPr lang="en-US" sz="2000" b="1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AI Feature Communication</a:t>
            </a:r>
            <a:endParaRPr lang="en-US" sz="1100"/>
          </a:p>
        </p:txBody>
      </p:sp>
      <p:sp>
        <p:nvSpPr>
          <p:cNvPr id="15" name="Freeform 15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</p:sp>
      <p:sp>
        <p:nvSpPr>
          <p:cNvPr id="16" name="TextBox 16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System Data Flow Architecture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14520" y="2932430"/>
            <a:ext cx="6370320" cy="18262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4800" b="0" i="0" u="none" baseline="0">
                <a:solidFill>
                  <a:schemeClr val="bg2"/>
                </a:solidFill>
                <a:latin typeface="思源黑体 Medium"/>
                <a:ea typeface="思源黑体 Medium"/>
              </a:rPr>
              <a:t>Core Modules and Functionality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5504815" y="1727200"/>
            <a:ext cx="4189730" cy="14090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algn="ctr">
              <a:defRPr/>
            </a:pPr>
            <a:r>
              <a:rPr lang="en-US" sz="6600" b="0" i="0" u="none" baseline="0">
                <a:solidFill>
                  <a:schemeClr val="bg2"/>
                </a:solidFill>
                <a:latin typeface="思源黑体 Medium"/>
                <a:ea typeface="思源黑体 Medium"/>
              </a:rPr>
              <a:t>-03-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81050" y="1586542"/>
            <a:ext cx="5689600" cy="4318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 dirty="0"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User Data Collection and BMI Calculation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781050" y="2164715"/>
            <a:ext cx="5689600" cy="154813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 dirty="0">
                <a:solidFill>
                  <a:schemeClr val="bg1"/>
                </a:solidFill>
                <a:latin typeface="思源黑体 Normal"/>
                <a:ea typeface="思源黑体 Normal"/>
              </a:rPr>
              <a:t>The Health Check module collects user data like age, gender, height, and weight, </a:t>
            </a:r>
            <a:r>
              <a:rPr lang="en-US" b="0" i="0" u="none" baseline="0" dirty="0">
                <a:solidFill>
                  <a:schemeClr val="bg1"/>
                </a:solidFill>
                <a:latin typeface="思源黑体 Normal"/>
                <a:ea typeface="思源黑体 Normal"/>
              </a:rPr>
              <a:t>then</a:t>
            </a:r>
            <a:r>
              <a:rPr lang="en-US" sz="1500" b="0" i="0" u="none" baseline="0" dirty="0">
                <a:solidFill>
                  <a:schemeClr val="bg1"/>
                </a:solidFill>
                <a:latin typeface="思源黑体 Normal"/>
                <a:ea typeface="思源黑体 Normal"/>
              </a:rPr>
              <a:t> calculates BMI using the WHO-standard formula for accuracy.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1050" y="3643318"/>
            <a:ext cx="5689600" cy="4318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 dirty="0"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Prioritizing Accuracy Over Features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781050" y="4267200"/>
            <a:ext cx="5689600" cy="154813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 dirty="0">
                <a:solidFill>
                  <a:schemeClr val="bg1"/>
                </a:solidFill>
                <a:latin typeface="思源黑体 Normal"/>
                <a:ea typeface="思源黑体 Normal"/>
              </a:rPr>
              <a:t>The Smart Health Analyzer prioritizes accuracy, removing potentially misleading metrics to provide reliable health insights.</a:t>
            </a:r>
          </a:p>
        </p:txBody>
      </p:sp>
      <p:sp>
        <p:nvSpPr>
          <p:cNvPr id="8" name="Freeform 8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</p:sp>
      <p:sp>
        <p:nvSpPr>
          <p:cNvPr id="9" name="TextBox 9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Health Check and BMI Calculator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0" y="5807395"/>
            <a:ext cx="12192000" cy="0"/>
          </a:xfrm>
          <a:prstGeom prst="line">
            <a:avLst/>
          </a:prstGeom>
          <a:ln w="12700">
            <a:solidFill>
              <a:srgbClr val="04A8F3">
                <a:alpha val="40000"/>
              </a:srgbClr>
            </a:solidFill>
          </a:ln>
        </p:spPr>
      </p:cxnSp>
      <p:sp>
        <p:nvSpPr>
          <p:cNvPr id="4" name="AutoShape 4"/>
          <p:cNvSpPr/>
          <p:nvPr/>
        </p:nvSpPr>
        <p:spPr>
          <a:xfrm>
            <a:off x="5324692" y="5746716"/>
            <a:ext cx="121359" cy="12135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59460" y="2799107"/>
            <a:ext cx="4953635" cy="46863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4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18900000"/>
          </a:gradFill>
          <a:ln>
            <a:noFill/>
          </a:ln>
        </p:spPr>
        <p:txBody>
          <a:bodyPr vert="horz" lIns="144000" tIns="45720" rIns="91440" bIns="45720" anchor="ctr"/>
          <a:lstStyle/>
          <a:p>
            <a:pPr marL="0" algn="l"/>
            <a:r>
              <a:rPr lang="en-US" sz="2000" b="1" i="0" u="none" spc="100" baseline="0" dirty="0">
                <a:solidFill>
                  <a:srgbClr val="FFFFFF"/>
                </a:solidFill>
                <a:latin typeface="思源黑体 Normal"/>
                <a:ea typeface="思源黑体 Normal"/>
              </a:rPr>
              <a:t>Mifflin-St Jeor Equation for BMR and TDEE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5385371" y="3292034"/>
            <a:ext cx="342035" cy="149362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8" name="AutoShape 8"/>
          <p:cNvSpPr/>
          <p:nvPr/>
        </p:nvSpPr>
        <p:spPr>
          <a:xfrm flipV="1">
            <a:off x="10535688" y="2354858"/>
            <a:ext cx="342035" cy="149362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468187" y="5746716"/>
            <a:ext cx="121359" cy="12135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906135" y="1885950"/>
            <a:ext cx="4953635" cy="46863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74000">
                <a:schemeClr val="accent1"/>
              </a:gs>
              <a:gs pos="83000">
                <a:schemeClr val="accent1"/>
              </a:gs>
              <a:gs pos="100000">
                <a:schemeClr val="accent1"/>
              </a:gs>
            </a:gsLst>
            <a:lin ang="18900000"/>
          </a:gradFill>
          <a:ln>
            <a:noFill/>
          </a:ln>
        </p:spPr>
        <p:txBody>
          <a:bodyPr vert="horz" lIns="144000" tIns="45720" rIns="91440" bIns="45720" anchor="ctr"/>
          <a:lstStyle/>
          <a:p>
            <a:pPr marL="0" algn="l"/>
            <a:r>
              <a:rPr lang="en-US" sz="2000" b="1" i="0" u="none" spc="100" baseline="0">
                <a:solidFill>
                  <a:srgbClr val="FFFFFF"/>
                </a:solidFill>
                <a:latin typeface="思源黑体 Normal"/>
                <a:ea typeface="思源黑体 Normal"/>
              </a:rPr>
              <a:t>Macronutrient Planning for Goals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1050" y="3321510"/>
            <a:ext cx="4615180" cy="24555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 dirty="0">
                <a:solidFill>
                  <a:schemeClr val="tx1"/>
                </a:solidFill>
                <a:latin typeface="思源黑体 Normal"/>
                <a:ea typeface="思源黑体 Normal"/>
              </a:rPr>
              <a:t>The Calorie Calculator uses the Mifflin-St Jeor equation to determine Basal Metabolic Rate (BMR) and Total Daily Energy Expenditure (TDEE).</a:t>
            </a:r>
            <a:endParaRPr lang="en-US" sz="1100" dirty="0"/>
          </a:p>
        </p:txBody>
      </p:sp>
      <p:sp>
        <p:nvSpPr>
          <p:cNvPr id="12" name="TextBox 12"/>
          <p:cNvSpPr txBox="1"/>
          <p:nvPr/>
        </p:nvSpPr>
        <p:spPr>
          <a:xfrm>
            <a:off x="5916295" y="2354580"/>
            <a:ext cx="4615180" cy="2455545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>
                <a:solidFill>
                  <a:schemeClr val="tx1"/>
                </a:solidFill>
                <a:latin typeface="思源黑体 Normal"/>
                <a:ea typeface="思源黑体 Normal"/>
              </a:rPr>
              <a:t>The module provides formulas and ratios for protein, carbohydrates, and fats based on user goals like weight loss or muscle gain.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Calorie Calculator and Macro Breakdown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494D27-0116-094A-F7F3-4EE76AAE3240}"/>
              </a:ext>
            </a:extLst>
          </p:cNvPr>
          <p:cNvSpPr txBox="1"/>
          <p:nvPr/>
        </p:nvSpPr>
        <p:spPr>
          <a:xfrm>
            <a:off x="765556" y="4525993"/>
            <a:ext cx="5314950" cy="11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200" b="1" i="0" dirty="0">
                <a:effectLst/>
                <a:latin typeface="Roboto" panose="02000000000000000000" pitchFamily="2" charset="0"/>
              </a:rPr>
              <a:t>For men:</a:t>
            </a:r>
            <a:br>
              <a:rPr lang="en-US" sz="1200" b="0" i="0" dirty="0">
                <a:effectLst/>
                <a:latin typeface="Roboto" panose="02000000000000000000" pitchFamily="2" charset="0"/>
              </a:rPr>
            </a:br>
            <a:r>
              <a:rPr lang="en-US" sz="1200" b="0" i="0" dirty="0">
                <a:effectLst/>
                <a:latin typeface="Roboto" panose="02000000000000000000" pitchFamily="2" charset="0"/>
              </a:rPr>
              <a:t>BMR = (10 × weight in kg) + (6.25 × height in cm) − (5 × age in years) + 5</a:t>
            </a:r>
          </a:p>
          <a:p>
            <a:pPr algn="l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en-US" sz="1200" b="1" i="0" dirty="0">
                <a:effectLst/>
                <a:latin typeface="Roboto" panose="02000000000000000000" pitchFamily="2" charset="0"/>
              </a:rPr>
              <a:t>For women:</a:t>
            </a:r>
            <a:br>
              <a:rPr lang="en-US" sz="1200" b="0" i="0" dirty="0">
                <a:effectLst/>
                <a:latin typeface="Roboto" panose="02000000000000000000" pitchFamily="2" charset="0"/>
              </a:rPr>
            </a:br>
            <a:r>
              <a:rPr lang="en-US" sz="1200" b="0" i="0" dirty="0">
                <a:effectLst/>
                <a:latin typeface="Roboto" panose="02000000000000000000" pitchFamily="2" charset="0"/>
              </a:rPr>
              <a:t>BMR = (10 × weight in kg) + (6.25 × height in cm) − (5 × age in years) − 161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E97A19-A0E0-B982-6D21-5B281517C695}"/>
              </a:ext>
            </a:extLst>
          </p:cNvPr>
          <p:cNvSpPr txBox="1"/>
          <p:nvPr/>
        </p:nvSpPr>
        <p:spPr>
          <a:xfrm>
            <a:off x="6019800" y="4810125"/>
            <a:ext cx="6103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/>
              <a:t>TDEE = BMR × Activity Factor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/>
              <a:t>Target = TDEE ± 500 (based on goal)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5.jpeg"/>
          <p:cNvPicPr>
            <a:picLocks noChangeAspect="1"/>
          </p:cNvPicPr>
          <p:nvPr/>
        </p:nvPicPr>
        <p:blipFill>
          <a:blip r:embed="rId3"/>
          <a:srcRect t="12315" b="12315"/>
          <a:stretch>
            <a:fillRect/>
          </a:stretch>
        </p:blipFill>
        <p:spPr>
          <a:xfrm>
            <a:off x="6700520" y="0"/>
            <a:ext cx="5491480" cy="5495925"/>
          </a:xfrm>
          <a:custGeom>
            <a:avLst/>
            <a:gdLst/>
            <a:ahLst/>
            <a:cxnLst/>
            <a:rect l="0" t="0" r="0" b="0"/>
            <a:pathLst>
              <a:path w="6036950" h="6040857">
                <a:moveTo>
                  <a:pt x="2276483" y="0"/>
                </a:moveTo>
                <a:lnTo>
                  <a:pt x="6036950" y="0"/>
                </a:lnTo>
                <a:lnTo>
                  <a:pt x="6036950" y="2936006"/>
                </a:lnTo>
                <a:lnTo>
                  <a:pt x="4238679" y="5156686"/>
                </a:lnTo>
                <a:cubicBezTo>
                  <a:pt x="3409718" y="6180367"/>
                  <a:pt x="1907854" y="6338220"/>
                  <a:pt x="884172" y="5509259"/>
                </a:cubicBezTo>
                <a:cubicBezTo>
                  <a:pt x="-139509" y="4680298"/>
                  <a:pt x="-297361" y="3178434"/>
                  <a:pt x="531600" y="2154752"/>
                </a:cubicBezTo>
                <a:close/>
              </a:path>
            </a:pathLst>
          </a:custGeom>
          <a:ln w="9525" cap="flat" cmpd="sng">
            <a:solidFill>
              <a:schemeClr val="tx1">
                <a:alpha val="50000"/>
                <a:lumMod val="40000"/>
                <a:lumOff val="60000"/>
              </a:schemeClr>
            </a:solidFill>
            <a:prstDash val="solid"/>
          </a:ln>
          <a:effectLst>
            <a:outerShdw dist="254000" dir="4200000" algn="ctr" rotWithShape="0">
              <a:schemeClr val="accent1">
                <a:alpha val="15000"/>
              </a:scheme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Mental Health Screening Tools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</p:sp>
      <p:sp>
        <p:nvSpPr>
          <p:cNvPr id="5" name="TextBox 5"/>
          <p:cNvSpPr txBox="1"/>
          <p:nvPr/>
        </p:nvSpPr>
        <p:spPr>
          <a:xfrm>
            <a:off x="685165" y="1831975"/>
            <a:ext cx="5594985" cy="198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>
                <a:solidFill>
                  <a:schemeClr val="tx1"/>
                </a:solidFill>
                <a:latin typeface="思源黑体 Normal"/>
                <a:ea typeface="思源黑体 Normal"/>
              </a:rPr>
              <a:t>The Mental Health Check module uses standardized PHQ-9 and GAD-7 tools for evaluating depression and anxiety levels.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685165" y="1292225"/>
            <a:ext cx="5594985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PHQ-9 and GAD-7 Assessments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685165" y="4518660"/>
            <a:ext cx="5594985" cy="198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>
                <a:solidFill>
                  <a:schemeClr val="tx1"/>
                </a:solidFill>
                <a:latin typeface="思源黑体 Normal"/>
                <a:ea typeface="思源黑体 Normal"/>
              </a:rPr>
              <a:t>The module emphasizes clinically validated instruments and provides clear guidance for seeking professional help based on scores.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685165" y="3978910"/>
            <a:ext cx="5594985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Clinical Validation and Professional Guidance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771532" y="1731645"/>
            <a:ext cx="673735" cy="673735"/>
            <a:chOff x="1919536" y="2739155"/>
            <a:chExt cx="504056" cy="504056"/>
          </a:xfrm>
        </p:grpSpPr>
        <p:sp>
          <p:nvSpPr>
            <p:cNvPr id="4" name="AutoShape 4"/>
            <p:cNvSpPr/>
            <p:nvPr/>
          </p:nvSpPr>
          <p:spPr>
            <a:xfrm>
              <a:off x="1919536" y="2739155"/>
              <a:ext cx="504056" cy="504056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rgbClr val="FFFFFF"/>
              </a:solidFill>
            </a:ln>
          </p:spPr>
          <p:txBody>
            <a:bodyPr vert="horz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2043203" y="2868766"/>
              <a:ext cx="256722" cy="244834"/>
            </a:xfrm>
            <a:custGeom>
              <a:avLst/>
              <a:gdLst/>
              <a:ahLst/>
              <a:cxnLst/>
              <a:rect l="l" t="t" r="r" b="b"/>
              <a:pathLst>
                <a:path w="607639" h="579502">
                  <a:moveTo>
                    <a:pt x="315778" y="173080"/>
                  </a:moveTo>
                  <a:lnTo>
                    <a:pt x="315778" y="266058"/>
                  </a:lnTo>
                  <a:cubicBezTo>
                    <a:pt x="315778" y="272814"/>
                    <a:pt x="310258" y="278325"/>
                    <a:pt x="303493" y="278325"/>
                  </a:cubicBezTo>
                  <a:lnTo>
                    <a:pt x="210375" y="278325"/>
                  </a:lnTo>
                  <a:cubicBezTo>
                    <a:pt x="216429" y="324281"/>
                    <a:pt x="255866" y="359925"/>
                    <a:pt x="303493" y="359925"/>
                  </a:cubicBezTo>
                  <a:cubicBezTo>
                    <a:pt x="355303" y="359925"/>
                    <a:pt x="397500" y="317792"/>
                    <a:pt x="397500" y="266058"/>
                  </a:cubicBezTo>
                  <a:cubicBezTo>
                    <a:pt x="397500" y="218502"/>
                    <a:pt x="361802" y="179124"/>
                    <a:pt x="315778" y="173080"/>
                  </a:cubicBezTo>
                  <a:close/>
                  <a:moveTo>
                    <a:pt x="249814" y="160816"/>
                  </a:moveTo>
                  <a:cubicBezTo>
                    <a:pt x="223740" y="165793"/>
                    <a:pt x="203093" y="186410"/>
                    <a:pt x="198110" y="212449"/>
                  </a:cubicBezTo>
                  <a:lnTo>
                    <a:pt x="249814" y="212449"/>
                  </a:lnTo>
                  <a:close/>
                  <a:moveTo>
                    <a:pt x="303493" y="147835"/>
                  </a:moveTo>
                  <a:cubicBezTo>
                    <a:pt x="368835" y="147835"/>
                    <a:pt x="421981" y="200902"/>
                    <a:pt x="421981" y="266058"/>
                  </a:cubicBezTo>
                  <a:cubicBezTo>
                    <a:pt x="421981" y="331303"/>
                    <a:pt x="368835" y="384370"/>
                    <a:pt x="303493" y="384370"/>
                  </a:cubicBezTo>
                  <a:cubicBezTo>
                    <a:pt x="238239" y="384370"/>
                    <a:pt x="185093" y="331303"/>
                    <a:pt x="185093" y="266058"/>
                  </a:cubicBezTo>
                  <a:cubicBezTo>
                    <a:pt x="185093" y="259303"/>
                    <a:pt x="190523" y="253880"/>
                    <a:pt x="197289" y="253880"/>
                  </a:cubicBezTo>
                  <a:lnTo>
                    <a:pt x="291297" y="253880"/>
                  </a:lnTo>
                  <a:lnTo>
                    <a:pt x="291297" y="160013"/>
                  </a:lnTo>
                  <a:cubicBezTo>
                    <a:pt x="291297" y="153257"/>
                    <a:pt x="296727" y="147835"/>
                    <a:pt x="303493" y="147835"/>
                  </a:cubicBezTo>
                  <a:close/>
                  <a:moveTo>
                    <a:pt x="262095" y="135133"/>
                  </a:moveTo>
                  <a:cubicBezTo>
                    <a:pt x="268859" y="135133"/>
                    <a:pt x="274287" y="140643"/>
                    <a:pt x="274287" y="147397"/>
                  </a:cubicBezTo>
                  <a:lnTo>
                    <a:pt x="274287" y="224713"/>
                  </a:lnTo>
                  <a:cubicBezTo>
                    <a:pt x="274287" y="231467"/>
                    <a:pt x="268859" y="236888"/>
                    <a:pt x="262095" y="236888"/>
                  </a:cubicBezTo>
                  <a:lnTo>
                    <a:pt x="184672" y="236888"/>
                  </a:lnTo>
                  <a:cubicBezTo>
                    <a:pt x="177909" y="236888"/>
                    <a:pt x="172391" y="231467"/>
                    <a:pt x="172391" y="224713"/>
                  </a:cubicBezTo>
                  <a:cubicBezTo>
                    <a:pt x="172391" y="175302"/>
                    <a:pt x="212616" y="135133"/>
                    <a:pt x="262095" y="135133"/>
                  </a:cubicBezTo>
                  <a:close/>
                  <a:moveTo>
                    <a:pt x="58120" y="108514"/>
                  </a:moveTo>
                  <a:lnTo>
                    <a:pt x="58120" y="413970"/>
                  </a:lnTo>
                  <a:lnTo>
                    <a:pt x="549430" y="413970"/>
                  </a:lnTo>
                  <a:lnTo>
                    <a:pt x="549430" y="108514"/>
                  </a:lnTo>
                  <a:close/>
                  <a:moveTo>
                    <a:pt x="27236" y="56079"/>
                  </a:moveTo>
                  <a:lnTo>
                    <a:pt x="27236" y="81319"/>
                  </a:lnTo>
                  <a:lnTo>
                    <a:pt x="580403" y="81319"/>
                  </a:lnTo>
                  <a:lnTo>
                    <a:pt x="580403" y="56079"/>
                  </a:lnTo>
                  <a:close/>
                  <a:moveTo>
                    <a:pt x="303775" y="0"/>
                  </a:moveTo>
                  <a:cubicBezTo>
                    <a:pt x="311341" y="0"/>
                    <a:pt x="317393" y="6132"/>
                    <a:pt x="317393" y="13597"/>
                  </a:cubicBezTo>
                  <a:lnTo>
                    <a:pt x="317393" y="28884"/>
                  </a:lnTo>
                  <a:lnTo>
                    <a:pt x="580403" y="28884"/>
                  </a:lnTo>
                  <a:cubicBezTo>
                    <a:pt x="595356" y="28884"/>
                    <a:pt x="607639" y="41148"/>
                    <a:pt x="607639" y="56079"/>
                  </a:cubicBezTo>
                  <a:lnTo>
                    <a:pt x="607639" y="81319"/>
                  </a:lnTo>
                  <a:cubicBezTo>
                    <a:pt x="607639" y="96338"/>
                    <a:pt x="595356" y="108514"/>
                    <a:pt x="580403" y="108514"/>
                  </a:cubicBezTo>
                  <a:lnTo>
                    <a:pt x="576665" y="108514"/>
                  </a:lnTo>
                  <a:lnTo>
                    <a:pt x="576665" y="413970"/>
                  </a:lnTo>
                  <a:cubicBezTo>
                    <a:pt x="576665" y="428990"/>
                    <a:pt x="564472" y="441165"/>
                    <a:pt x="549430" y="441165"/>
                  </a:cubicBezTo>
                  <a:lnTo>
                    <a:pt x="317393" y="441165"/>
                  </a:lnTo>
                  <a:lnTo>
                    <a:pt x="317393" y="481069"/>
                  </a:lnTo>
                  <a:lnTo>
                    <a:pt x="418236" y="554923"/>
                  </a:lnTo>
                  <a:cubicBezTo>
                    <a:pt x="424377" y="559366"/>
                    <a:pt x="425623" y="567898"/>
                    <a:pt x="421173" y="573942"/>
                  </a:cubicBezTo>
                  <a:cubicBezTo>
                    <a:pt x="418503" y="577585"/>
                    <a:pt x="414409" y="579452"/>
                    <a:pt x="410225" y="579452"/>
                  </a:cubicBezTo>
                  <a:cubicBezTo>
                    <a:pt x="407466" y="579452"/>
                    <a:pt x="404618" y="578652"/>
                    <a:pt x="402215" y="576874"/>
                  </a:cubicBezTo>
                  <a:lnTo>
                    <a:pt x="317393" y="514752"/>
                  </a:lnTo>
                  <a:lnTo>
                    <a:pt x="317393" y="565854"/>
                  </a:lnTo>
                  <a:cubicBezTo>
                    <a:pt x="317393" y="573408"/>
                    <a:pt x="311341" y="579452"/>
                    <a:pt x="303775" y="579452"/>
                  </a:cubicBezTo>
                  <a:cubicBezTo>
                    <a:pt x="296299" y="579452"/>
                    <a:pt x="290157" y="573408"/>
                    <a:pt x="290157" y="565854"/>
                  </a:cubicBezTo>
                  <a:lnTo>
                    <a:pt x="290157" y="514752"/>
                  </a:lnTo>
                  <a:lnTo>
                    <a:pt x="205424" y="576874"/>
                  </a:lnTo>
                  <a:cubicBezTo>
                    <a:pt x="199372" y="581318"/>
                    <a:pt x="190827" y="579985"/>
                    <a:pt x="186377" y="573942"/>
                  </a:cubicBezTo>
                  <a:cubicBezTo>
                    <a:pt x="181927" y="567898"/>
                    <a:pt x="183262" y="559366"/>
                    <a:pt x="189314" y="554923"/>
                  </a:cubicBezTo>
                  <a:lnTo>
                    <a:pt x="290157" y="481069"/>
                  </a:lnTo>
                  <a:lnTo>
                    <a:pt x="290157" y="441165"/>
                  </a:lnTo>
                  <a:lnTo>
                    <a:pt x="58120" y="441165"/>
                  </a:lnTo>
                  <a:cubicBezTo>
                    <a:pt x="43167" y="441165"/>
                    <a:pt x="30885" y="428990"/>
                    <a:pt x="30885" y="413970"/>
                  </a:cubicBezTo>
                  <a:lnTo>
                    <a:pt x="30885" y="108514"/>
                  </a:lnTo>
                  <a:lnTo>
                    <a:pt x="27236" y="108514"/>
                  </a:lnTo>
                  <a:cubicBezTo>
                    <a:pt x="12194" y="108514"/>
                    <a:pt x="0" y="96338"/>
                    <a:pt x="0" y="81319"/>
                  </a:cubicBezTo>
                  <a:lnTo>
                    <a:pt x="0" y="56079"/>
                  </a:lnTo>
                  <a:cubicBezTo>
                    <a:pt x="0" y="41148"/>
                    <a:pt x="12194" y="28884"/>
                    <a:pt x="27236" y="28884"/>
                  </a:cubicBezTo>
                  <a:lnTo>
                    <a:pt x="290157" y="28884"/>
                  </a:lnTo>
                  <a:lnTo>
                    <a:pt x="290157" y="13597"/>
                  </a:lnTo>
                  <a:cubicBezTo>
                    <a:pt x="290157" y="6132"/>
                    <a:pt x="296299" y="0"/>
                    <a:pt x="3037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746735" y="1731645"/>
            <a:ext cx="673735" cy="673735"/>
            <a:chOff x="1919536" y="2739155"/>
            <a:chExt cx="504056" cy="504056"/>
          </a:xfrm>
        </p:grpSpPr>
        <p:sp>
          <p:nvSpPr>
            <p:cNvPr id="8" name="AutoShape 8"/>
            <p:cNvSpPr/>
            <p:nvPr/>
          </p:nvSpPr>
          <p:spPr>
            <a:xfrm>
              <a:off x="1919536" y="2739155"/>
              <a:ext cx="504056" cy="504056"/>
            </a:xfrm>
            <a:prstGeom prst="ellipse">
              <a:avLst/>
            </a:prstGeom>
            <a:solidFill>
              <a:schemeClr val="accent3"/>
            </a:solidFill>
            <a:ln w="25400">
              <a:solidFill>
                <a:srgbClr val="FFFFFF"/>
              </a:solidFill>
            </a:ln>
          </p:spPr>
          <p:txBody>
            <a:bodyPr vert="horz" lIns="90170" tIns="46990" rIns="90170" bIns="46990" anchor="ctr">
              <a:normAutofit/>
            </a:bodyPr>
            <a:lstStyle/>
            <a:p>
              <a:pPr marL="0" algn="ctr"/>
              <a:endParaRPr dirty="0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43203" y="2868766"/>
              <a:ext cx="256722" cy="244834"/>
            </a:xfrm>
            <a:custGeom>
              <a:avLst/>
              <a:gdLst/>
              <a:ahLst/>
              <a:cxnLst/>
              <a:rect l="l" t="t" r="r" b="b"/>
              <a:pathLst>
                <a:path w="607639" h="579502">
                  <a:moveTo>
                    <a:pt x="315778" y="173080"/>
                  </a:moveTo>
                  <a:lnTo>
                    <a:pt x="315778" y="266058"/>
                  </a:lnTo>
                  <a:cubicBezTo>
                    <a:pt x="315778" y="272814"/>
                    <a:pt x="310258" y="278325"/>
                    <a:pt x="303493" y="278325"/>
                  </a:cubicBezTo>
                  <a:lnTo>
                    <a:pt x="210375" y="278325"/>
                  </a:lnTo>
                  <a:cubicBezTo>
                    <a:pt x="216429" y="324281"/>
                    <a:pt x="255866" y="359925"/>
                    <a:pt x="303493" y="359925"/>
                  </a:cubicBezTo>
                  <a:cubicBezTo>
                    <a:pt x="355303" y="359925"/>
                    <a:pt x="397500" y="317792"/>
                    <a:pt x="397500" y="266058"/>
                  </a:cubicBezTo>
                  <a:cubicBezTo>
                    <a:pt x="397500" y="218502"/>
                    <a:pt x="361802" y="179124"/>
                    <a:pt x="315778" y="173080"/>
                  </a:cubicBezTo>
                  <a:close/>
                  <a:moveTo>
                    <a:pt x="249814" y="160816"/>
                  </a:moveTo>
                  <a:cubicBezTo>
                    <a:pt x="223740" y="165793"/>
                    <a:pt x="203093" y="186410"/>
                    <a:pt x="198110" y="212449"/>
                  </a:cubicBezTo>
                  <a:lnTo>
                    <a:pt x="249814" y="212449"/>
                  </a:lnTo>
                  <a:close/>
                  <a:moveTo>
                    <a:pt x="303493" y="147835"/>
                  </a:moveTo>
                  <a:cubicBezTo>
                    <a:pt x="368835" y="147835"/>
                    <a:pt x="421981" y="200902"/>
                    <a:pt x="421981" y="266058"/>
                  </a:cubicBezTo>
                  <a:cubicBezTo>
                    <a:pt x="421981" y="331303"/>
                    <a:pt x="368835" y="384370"/>
                    <a:pt x="303493" y="384370"/>
                  </a:cubicBezTo>
                  <a:cubicBezTo>
                    <a:pt x="238239" y="384370"/>
                    <a:pt x="185093" y="331303"/>
                    <a:pt x="185093" y="266058"/>
                  </a:cubicBezTo>
                  <a:cubicBezTo>
                    <a:pt x="185093" y="259303"/>
                    <a:pt x="190523" y="253880"/>
                    <a:pt x="197289" y="253880"/>
                  </a:cubicBezTo>
                  <a:lnTo>
                    <a:pt x="291297" y="253880"/>
                  </a:lnTo>
                  <a:lnTo>
                    <a:pt x="291297" y="160013"/>
                  </a:lnTo>
                  <a:cubicBezTo>
                    <a:pt x="291297" y="153257"/>
                    <a:pt x="296727" y="147835"/>
                    <a:pt x="303493" y="147835"/>
                  </a:cubicBezTo>
                  <a:close/>
                  <a:moveTo>
                    <a:pt x="262095" y="135133"/>
                  </a:moveTo>
                  <a:cubicBezTo>
                    <a:pt x="268859" y="135133"/>
                    <a:pt x="274287" y="140643"/>
                    <a:pt x="274287" y="147397"/>
                  </a:cubicBezTo>
                  <a:lnTo>
                    <a:pt x="274287" y="224713"/>
                  </a:lnTo>
                  <a:cubicBezTo>
                    <a:pt x="274287" y="231467"/>
                    <a:pt x="268859" y="236888"/>
                    <a:pt x="262095" y="236888"/>
                  </a:cubicBezTo>
                  <a:lnTo>
                    <a:pt x="184672" y="236888"/>
                  </a:lnTo>
                  <a:cubicBezTo>
                    <a:pt x="177909" y="236888"/>
                    <a:pt x="172391" y="231467"/>
                    <a:pt x="172391" y="224713"/>
                  </a:cubicBezTo>
                  <a:cubicBezTo>
                    <a:pt x="172391" y="175302"/>
                    <a:pt x="212616" y="135133"/>
                    <a:pt x="262095" y="135133"/>
                  </a:cubicBezTo>
                  <a:close/>
                  <a:moveTo>
                    <a:pt x="58120" y="108514"/>
                  </a:moveTo>
                  <a:lnTo>
                    <a:pt x="58120" y="413970"/>
                  </a:lnTo>
                  <a:lnTo>
                    <a:pt x="549430" y="413970"/>
                  </a:lnTo>
                  <a:lnTo>
                    <a:pt x="549430" y="108514"/>
                  </a:lnTo>
                  <a:close/>
                  <a:moveTo>
                    <a:pt x="27236" y="56079"/>
                  </a:moveTo>
                  <a:lnTo>
                    <a:pt x="27236" y="81319"/>
                  </a:lnTo>
                  <a:lnTo>
                    <a:pt x="580403" y="81319"/>
                  </a:lnTo>
                  <a:lnTo>
                    <a:pt x="580403" y="56079"/>
                  </a:lnTo>
                  <a:close/>
                  <a:moveTo>
                    <a:pt x="303775" y="0"/>
                  </a:moveTo>
                  <a:cubicBezTo>
                    <a:pt x="311341" y="0"/>
                    <a:pt x="317393" y="6132"/>
                    <a:pt x="317393" y="13597"/>
                  </a:cubicBezTo>
                  <a:lnTo>
                    <a:pt x="317393" y="28884"/>
                  </a:lnTo>
                  <a:lnTo>
                    <a:pt x="580403" y="28884"/>
                  </a:lnTo>
                  <a:cubicBezTo>
                    <a:pt x="595356" y="28884"/>
                    <a:pt x="607639" y="41148"/>
                    <a:pt x="607639" y="56079"/>
                  </a:cubicBezTo>
                  <a:lnTo>
                    <a:pt x="607639" y="81319"/>
                  </a:lnTo>
                  <a:cubicBezTo>
                    <a:pt x="607639" y="96338"/>
                    <a:pt x="595356" y="108514"/>
                    <a:pt x="580403" y="108514"/>
                  </a:cubicBezTo>
                  <a:lnTo>
                    <a:pt x="576665" y="108514"/>
                  </a:lnTo>
                  <a:lnTo>
                    <a:pt x="576665" y="413970"/>
                  </a:lnTo>
                  <a:cubicBezTo>
                    <a:pt x="576665" y="428990"/>
                    <a:pt x="564472" y="441165"/>
                    <a:pt x="549430" y="441165"/>
                  </a:cubicBezTo>
                  <a:lnTo>
                    <a:pt x="317393" y="441165"/>
                  </a:lnTo>
                  <a:lnTo>
                    <a:pt x="317393" y="481069"/>
                  </a:lnTo>
                  <a:lnTo>
                    <a:pt x="418236" y="554923"/>
                  </a:lnTo>
                  <a:cubicBezTo>
                    <a:pt x="424377" y="559366"/>
                    <a:pt x="425623" y="567898"/>
                    <a:pt x="421173" y="573942"/>
                  </a:cubicBezTo>
                  <a:cubicBezTo>
                    <a:pt x="418503" y="577585"/>
                    <a:pt x="414409" y="579452"/>
                    <a:pt x="410225" y="579452"/>
                  </a:cubicBezTo>
                  <a:cubicBezTo>
                    <a:pt x="407466" y="579452"/>
                    <a:pt x="404618" y="578652"/>
                    <a:pt x="402215" y="576874"/>
                  </a:cubicBezTo>
                  <a:lnTo>
                    <a:pt x="317393" y="514752"/>
                  </a:lnTo>
                  <a:lnTo>
                    <a:pt x="317393" y="565854"/>
                  </a:lnTo>
                  <a:cubicBezTo>
                    <a:pt x="317393" y="573408"/>
                    <a:pt x="311341" y="579452"/>
                    <a:pt x="303775" y="579452"/>
                  </a:cubicBezTo>
                  <a:cubicBezTo>
                    <a:pt x="296299" y="579452"/>
                    <a:pt x="290157" y="573408"/>
                    <a:pt x="290157" y="565854"/>
                  </a:cubicBezTo>
                  <a:lnTo>
                    <a:pt x="290157" y="514752"/>
                  </a:lnTo>
                  <a:lnTo>
                    <a:pt x="205424" y="576874"/>
                  </a:lnTo>
                  <a:cubicBezTo>
                    <a:pt x="199372" y="581318"/>
                    <a:pt x="190827" y="579985"/>
                    <a:pt x="186377" y="573942"/>
                  </a:cubicBezTo>
                  <a:cubicBezTo>
                    <a:pt x="181927" y="567898"/>
                    <a:pt x="183262" y="559366"/>
                    <a:pt x="189314" y="554923"/>
                  </a:cubicBezTo>
                  <a:lnTo>
                    <a:pt x="290157" y="481069"/>
                  </a:lnTo>
                  <a:lnTo>
                    <a:pt x="290157" y="441165"/>
                  </a:lnTo>
                  <a:lnTo>
                    <a:pt x="58120" y="441165"/>
                  </a:lnTo>
                  <a:cubicBezTo>
                    <a:pt x="43167" y="441165"/>
                    <a:pt x="30885" y="428990"/>
                    <a:pt x="30885" y="413970"/>
                  </a:cubicBezTo>
                  <a:lnTo>
                    <a:pt x="30885" y="108514"/>
                  </a:lnTo>
                  <a:lnTo>
                    <a:pt x="27236" y="108514"/>
                  </a:lnTo>
                  <a:cubicBezTo>
                    <a:pt x="12194" y="108514"/>
                    <a:pt x="0" y="96338"/>
                    <a:pt x="0" y="81319"/>
                  </a:cubicBezTo>
                  <a:lnTo>
                    <a:pt x="0" y="56079"/>
                  </a:lnTo>
                  <a:cubicBezTo>
                    <a:pt x="0" y="41148"/>
                    <a:pt x="12194" y="28884"/>
                    <a:pt x="27236" y="28884"/>
                  </a:cubicBezTo>
                  <a:lnTo>
                    <a:pt x="290157" y="28884"/>
                  </a:lnTo>
                  <a:lnTo>
                    <a:pt x="290157" y="13597"/>
                  </a:lnTo>
                  <a:cubicBezTo>
                    <a:pt x="290157" y="6132"/>
                    <a:pt x="296299" y="0"/>
                    <a:pt x="3037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</p:sp>
      <p:sp>
        <p:nvSpPr>
          <p:cNvPr id="11" name="TextBox 11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Food Logger and Water Tracker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685165" y="2578622"/>
            <a:ext cx="4896000" cy="591203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2000" b="1" i="0" u="none" baseline="0" dirty="0"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Meal Tracking and Integration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660398" y="3343067"/>
            <a:ext cx="4896000" cy="1866265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 dirty="0">
                <a:ln/>
                <a:solidFill>
                  <a:schemeClr val="tx1"/>
                </a:solidFill>
                <a:latin typeface="思源黑体 Normal"/>
                <a:ea typeface="思源黑体 Normal"/>
              </a:rPr>
              <a:t>The Food Logger allows users to track meals by category, recording caloric and macronutrient data, and integrates with AI Meals for direct logging.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35602" y="2578622"/>
            <a:ext cx="4896000" cy="591203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2000" b="1" i="0" u="none" baseline="0" dirty="0"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Hydration Goals and Visual Feedback</a:t>
            </a:r>
            <a:endParaRPr lang="en-US" sz="1100" dirty="0"/>
          </a:p>
        </p:txBody>
      </p:sp>
      <p:sp>
        <p:nvSpPr>
          <p:cNvPr id="15" name="AutoShape 15"/>
          <p:cNvSpPr/>
          <p:nvPr/>
        </p:nvSpPr>
        <p:spPr>
          <a:xfrm>
            <a:off x="6635600" y="3343067"/>
            <a:ext cx="4896000" cy="1866265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 dirty="0">
                <a:solidFill>
                  <a:schemeClr val="tx1"/>
                </a:solidFill>
                <a:latin typeface="思源黑体 Normal"/>
                <a:ea typeface="思源黑体 Normal"/>
              </a:rPr>
              <a:t>The Water Tracker encourages hydration with customizable goals, visual progress indicators, and SVG graphics for instant feedback.</a:t>
            </a:r>
          </a:p>
        </p:txBody>
      </p:sp>
      <p:cxnSp>
        <p:nvCxnSpPr>
          <p:cNvPr id="16" name="Connector 16"/>
          <p:cNvCxnSpPr/>
          <p:nvPr/>
        </p:nvCxnSpPr>
        <p:spPr>
          <a:xfrm>
            <a:off x="6165215" y="1731645"/>
            <a:ext cx="0" cy="4116705"/>
          </a:xfrm>
          <a:prstGeom prst="line">
            <a:avLst/>
          </a:prstGeom>
          <a:ln w="3175" cap="rnd">
            <a:solidFill>
              <a:schemeClr val="accent6">
                <a:alpha val="80000"/>
              </a:schemeClr>
            </a:solidFill>
          </a:ln>
        </p:spPr>
      </p:cxnSp>
    </p:spTree>
  </p:cSld>
  <p:clrMapOvr>
    <a:masterClrMapping/>
  </p:clrMapOvr>
  <p:transition advClick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00405" y="1859915"/>
            <a:ext cx="3383915" cy="4097655"/>
          </a:xfrm>
          <a:prstGeom prst="roundRect">
            <a:avLst>
              <a:gd name="adj" fmla="val 6098"/>
            </a:avLst>
          </a:prstGeom>
          <a:solidFill>
            <a:schemeClr val="accent6">
              <a:alpha val="15000"/>
              <a:lumMod val="75000"/>
            </a:schemeClr>
          </a:solidFill>
          <a:ln>
            <a:solidFill>
              <a:schemeClr val="accent1">
                <a:alpha val="40000"/>
              </a:schemeClr>
            </a:solidFill>
          </a:ln>
          <a:effectLst/>
        </p:spPr>
        <p:txBody>
          <a:bodyPr vert="horz" wrap="square" lIns="460012" tIns="553056" rIns="460012" bIns="154805" anchor="ctr">
            <a:noAutofit/>
          </a:bodyPr>
          <a:lstStyle/>
          <a:p>
            <a:pPr marL="0" indent="0" algn="just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500" b="0" i="0" u="none" baseline="0">
                <a:ln/>
                <a:solidFill>
                  <a:schemeClr val="tx1"/>
                </a:solidFill>
                <a:effectLst/>
                <a:latin typeface="思源黑体 Normal"/>
                <a:ea typeface="思源黑体 Normal"/>
              </a:rPr>
              <a:t>The AI Coach offers a conversational interface for health-related questions, powered by NVIDIA's API for timely responses.</a:t>
            </a:r>
          </a:p>
        </p:txBody>
      </p:sp>
      <p:sp>
        <p:nvSpPr>
          <p:cNvPr id="3" name="AutoShape 3"/>
          <p:cNvSpPr/>
          <p:nvPr/>
        </p:nvSpPr>
        <p:spPr>
          <a:xfrm>
            <a:off x="1069340" y="1525270"/>
            <a:ext cx="2646680" cy="864000"/>
          </a:xfrm>
          <a:prstGeom prst="roundRect">
            <a:avLst>
              <a:gd name="adj" fmla="val 50000"/>
            </a:avLst>
          </a:prstGeom>
          <a:solidFill>
            <a:srgbClr val="0DA2FE"/>
          </a:solidFill>
          <a:ln>
            <a:noFill/>
          </a:ln>
          <a:effectLst/>
        </p:spPr>
        <p:txBody>
          <a:bodyPr vert="horz" wrap="square" lIns="0" tIns="0" rIns="0" bIns="0" anchor="ctr">
            <a:no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000" b="1" i="0" u="none" baseline="0">
                <a:solidFill>
                  <a:srgbClr val="FFFFFF"/>
                </a:solidFill>
                <a:latin typeface="思源黑体 Normal"/>
                <a:ea typeface="思源黑体 Normal"/>
              </a:rPr>
              <a:t>Conversational AI for Health Inquiries</a:t>
            </a:r>
          </a:p>
        </p:txBody>
      </p:sp>
      <p:sp>
        <p:nvSpPr>
          <p:cNvPr id="4" name="AutoShape 4"/>
          <p:cNvSpPr/>
          <p:nvPr/>
        </p:nvSpPr>
        <p:spPr>
          <a:xfrm>
            <a:off x="4439920" y="1859915"/>
            <a:ext cx="3383915" cy="4097655"/>
          </a:xfrm>
          <a:prstGeom prst="roundRect">
            <a:avLst>
              <a:gd name="adj" fmla="val 6098"/>
            </a:avLst>
          </a:prstGeom>
          <a:solidFill>
            <a:schemeClr val="accent6">
              <a:alpha val="15000"/>
              <a:lumMod val="75000"/>
            </a:schemeClr>
          </a:solidFill>
          <a:ln>
            <a:solidFill>
              <a:schemeClr val="accent2">
                <a:alpha val="40000"/>
              </a:schemeClr>
            </a:solidFill>
          </a:ln>
          <a:effectLst/>
        </p:spPr>
        <p:txBody>
          <a:bodyPr vert="horz" wrap="square" lIns="460012" tIns="553056" rIns="460012" bIns="154805" anchor="ctr">
            <a:noAutofit/>
          </a:bodyPr>
          <a:lstStyle/>
          <a:p>
            <a:pPr marL="0" indent="0" algn="just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500" b="0" i="0" u="none" baseline="0">
                <a:ln/>
                <a:solidFill>
                  <a:schemeClr val="tx1"/>
                </a:solidFill>
                <a:effectLst/>
                <a:latin typeface="思源黑体 Normal"/>
                <a:ea typeface="思源黑体 Normal"/>
              </a:rPr>
              <a:t>The AI Meals module generates personalized meal plans based on dietary preferences, enhancing user experience.</a:t>
            </a:r>
          </a:p>
        </p:txBody>
      </p:sp>
      <p:sp>
        <p:nvSpPr>
          <p:cNvPr id="5" name="AutoShape 5"/>
          <p:cNvSpPr/>
          <p:nvPr/>
        </p:nvSpPr>
        <p:spPr>
          <a:xfrm>
            <a:off x="4808855" y="1525270"/>
            <a:ext cx="2646680" cy="864000"/>
          </a:xfrm>
          <a:prstGeom prst="roundRect">
            <a:avLst>
              <a:gd name="adj" fmla="val 50000"/>
            </a:avLst>
          </a:prstGeom>
          <a:solidFill>
            <a:srgbClr val="0DA2FE"/>
          </a:solidFill>
          <a:ln>
            <a:noFill/>
          </a:ln>
          <a:effectLst/>
        </p:spPr>
        <p:txBody>
          <a:bodyPr vert="horz" wrap="square" lIns="0" tIns="0" rIns="0" bIns="0" anchor="ctr">
            <a:no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000" b="1" i="0" u="none" baseline="0">
                <a:solidFill>
                  <a:srgbClr val="FFFFFF"/>
                </a:solidFill>
                <a:latin typeface="思源黑体 Normal"/>
                <a:ea typeface="思源黑体 Normal"/>
              </a:rPr>
              <a:t>Personalized Meal Planning</a:t>
            </a:r>
          </a:p>
        </p:txBody>
      </p:sp>
      <p:sp>
        <p:nvSpPr>
          <p:cNvPr id="6" name="AutoShape 6"/>
          <p:cNvSpPr/>
          <p:nvPr/>
        </p:nvSpPr>
        <p:spPr>
          <a:xfrm>
            <a:off x="8178800" y="1859915"/>
            <a:ext cx="3383915" cy="4097655"/>
          </a:xfrm>
          <a:prstGeom prst="roundRect">
            <a:avLst>
              <a:gd name="adj" fmla="val 6098"/>
            </a:avLst>
          </a:prstGeom>
          <a:solidFill>
            <a:schemeClr val="accent6">
              <a:alpha val="15000"/>
              <a:lumMod val="75000"/>
            </a:schemeClr>
          </a:solidFill>
          <a:ln>
            <a:solidFill>
              <a:schemeClr val="accent1">
                <a:alpha val="40000"/>
              </a:schemeClr>
            </a:solidFill>
          </a:ln>
          <a:effectLst/>
        </p:spPr>
        <p:txBody>
          <a:bodyPr vert="horz" wrap="square" lIns="460012" tIns="553056" rIns="460012" bIns="154805" anchor="ctr">
            <a:noAutofit/>
          </a:bodyPr>
          <a:lstStyle/>
          <a:p>
            <a:pPr marL="0" indent="0" algn="just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500" b="0" i="0" u="none" baseline="0">
                <a:ln/>
                <a:solidFill>
                  <a:schemeClr val="tx1"/>
                </a:solidFill>
                <a:effectLst/>
                <a:latin typeface="思源黑体 Normal"/>
                <a:ea typeface="思源黑体 Normal"/>
              </a:rPr>
              <a:t>The Streaks module gamifies tracking with rewards for consistent activity, using a simple algorithm to maintain engagement.</a:t>
            </a:r>
          </a:p>
        </p:txBody>
      </p:sp>
      <p:sp>
        <p:nvSpPr>
          <p:cNvPr id="7" name="AutoShape 7"/>
          <p:cNvSpPr/>
          <p:nvPr/>
        </p:nvSpPr>
        <p:spPr>
          <a:xfrm>
            <a:off x="8547735" y="1525270"/>
            <a:ext cx="2646680" cy="864000"/>
          </a:xfrm>
          <a:prstGeom prst="roundRect">
            <a:avLst>
              <a:gd name="adj" fmla="val 50000"/>
            </a:avLst>
          </a:prstGeom>
          <a:solidFill>
            <a:srgbClr val="0DA2FE"/>
          </a:solidFill>
          <a:ln>
            <a:noFill/>
          </a:ln>
          <a:effectLst/>
        </p:spPr>
        <p:txBody>
          <a:bodyPr vert="horz" wrap="square" lIns="0" tIns="0" rIns="0" bIns="0" anchor="ctr">
            <a:no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000" b="1" i="0" u="none" baseline="0">
                <a:solidFill>
                  <a:srgbClr val="FFFFFF"/>
                </a:solidFill>
                <a:latin typeface="思源黑体 Normal"/>
                <a:ea typeface="思源黑体 Normal"/>
              </a:rPr>
              <a:t>Streaks and Badge System</a:t>
            </a:r>
          </a:p>
        </p:txBody>
      </p:sp>
      <p:sp>
        <p:nvSpPr>
          <p:cNvPr id="8" name="Freeform 8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</p:sp>
      <p:sp>
        <p:nvSpPr>
          <p:cNvPr id="9" name="TextBox 9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AI Coach, AI Meals, and Gamification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14520" y="2932430"/>
            <a:ext cx="6370320" cy="18262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4800" b="0" i="0" u="none" baseline="0">
                <a:solidFill>
                  <a:schemeClr val="bg2"/>
                </a:solidFill>
                <a:latin typeface="思源黑体 Medium"/>
                <a:ea typeface="思源黑体 Medium"/>
              </a:rPr>
              <a:t>Database Design, Challenges, and Security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5504815" y="1727200"/>
            <a:ext cx="4189730" cy="14090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algn="ctr">
              <a:defRPr/>
            </a:pPr>
            <a:r>
              <a:rPr lang="en-US" sz="6600" b="0" i="0" u="none" baseline="0">
                <a:solidFill>
                  <a:schemeClr val="bg2"/>
                </a:solidFill>
                <a:latin typeface="思源黑体 Medium"/>
                <a:ea typeface="思源黑体 Medium"/>
              </a:rPr>
              <a:t>-04-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76670" y="1816735"/>
            <a:ext cx="4464000" cy="4354830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1"/>
            </a:solidFill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8149591" y="1390015"/>
            <a:ext cx="890270" cy="89027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8179753" y="1389380"/>
            <a:ext cx="829945" cy="82994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8472458" y="1642991"/>
            <a:ext cx="307193" cy="323851"/>
          </a:xfrm>
          <a:custGeom>
            <a:avLst/>
            <a:gdLst/>
            <a:ahLst/>
            <a:cxnLst/>
            <a:rect l="l" t="t" r="r" b="b"/>
            <a:pathLst>
              <a:path w="484" h="510">
                <a:moveTo>
                  <a:pt x="278" y="270"/>
                </a:moveTo>
                <a:lnTo>
                  <a:pt x="87" y="270"/>
                </a:lnTo>
                <a:cubicBezTo>
                  <a:pt x="78" y="270"/>
                  <a:pt x="71" y="263"/>
                  <a:pt x="71" y="254"/>
                </a:cubicBezTo>
                <a:cubicBezTo>
                  <a:pt x="71" y="245"/>
                  <a:pt x="78" y="238"/>
                  <a:pt x="87" y="238"/>
                </a:cubicBezTo>
                <a:lnTo>
                  <a:pt x="278" y="238"/>
                </a:lnTo>
                <a:cubicBezTo>
                  <a:pt x="287" y="238"/>
                  <a:pt x="294" y="245"/>
                  <a:pt x="294" y="254"/>
                </a:cubicBezTo>
                <a:cubicBezTo>
                  <a:pt x="294" y="263"/>
                  <a:pt x="287" y="270"/>
                  <a:pt x="278" y="270"/>
                </a:cubicBezTo>
                <a:close/>
                <a:moveTo>
                  <a:pt x="326" y="159"/>
                </a:moveTo>
                <a:lnTo>
                  <a:pt x="87" y="159"/>
                </a:lnTo>
                <a:cubicBezTo>
                  <a:pt x="78" y="159"/>
                  <a:pt x="71" y="152"/>
                  <a:pt x="71" y="143"/>
                </a:cubicBezTo>
                <a:cubicBezTo>
                  <a:pt x="71" y="134"/>
                  <a:pt x="78" y="127"/>
                  <a:pt x="87" y="127"/>
                </a:cubicBezTo>
                <a:lnTo>
                  <a:pt x="326" y="127"/>
                </a:lnTo>
                <a:cubicBezTo>
                  <a:pt x="335" y="127"/>
                  <a:pt x="342" y="134"/>
                  <a:pt x="342" y="143"/>
                </a:cubicBezTo>
                <a:cubicBezTo>
                  <a:pt x="342" y="152"/>
                  <a:pt x="335" y="159"/>
                  <a:pt x="326" y="159"/>
                </a:cubicBezTo>
                <a:close/>
                <a:moveTo>
                  <a:pt x="388" y="510"/>
                </a:moveTo>
                <a:lnTo>
                  <a:pt x="43" y="510"/>
                </a:lnTo>
                <a:cubicBezTo>
                  <a:pt x="19" y="510"/>
                  <a:pt x="0" y="492"/>
                  <a:pt x="0" y="470"/>
                </a:cubicBezTo>
                <a:lnTo>
                  <a:pt x="0" y="40"/>
                </a:lnTo>
                <a:cubicBezTo>
                  <a:pt x="0" y="18"/>
                  <a:pt x="19" y="0"/>
                  <a:pt x="43" y="0"/>
                </a:cubicBezTo>
                <a:lnTo>
                  <a:pt x="388" y="0"/>
                </a:lnTo>
                <a:cubicBezTo>
                  <a:pt x="412" y="0"/>
                  <a:pt x="431" y="18"/>
                  <a:pt x="431" y="40"/>
                </a:cubicBezTo>
                <a:lnTo>
                  <a:pt x="431" y="104"/>
                </a:lnTo>
                <a:cubicBezTo>
                  <a:pt x="431" y="113"/>
                  <a:pt x="424" y="120"/>
                  <a:pt x="415" y="120"/>
                </a:cubicBezTo>
                <a:cubicBezTo>
                  <a:pt x="406" y="120"/>
                  <a:pt x="399" y="113"/>
                  <a:pt x="399" y="104"/>
                </a:cubicBezTo>
                <a:lnTo>
                  <a:pt x="399" y="40"/>
                </a:lnTo>
                <a:cubicBezTo>
                  <a:pt x="399" y="36"/>
                  <a:pt x="394" y="32"/>
                  <a:pt x="388" y="32"/>
                </a:cubicBezTo>
                <a:lnTo>
                  <a:pt x="43" y="32"/>
                </a:lnTo>
                <a:cubicBezTo>
                  <a:pt x="37" y="32"/>
                  <a:pt x="32" y="36"/>
                  <a:pt x="32" y="40"/>
                </a:cubicBezTo>
                <a:lnTo>
                  <a:pt x="32" y="470"/>
                </a:lnTo>
                <a:cubicBezTo>
                  <a:pt x="32" y="474"/>
                  <a:pt x="37" y="478"/>
                  <a:pt x="43" y="478"/>
                </a:cubicBezTo>
                <a:lnTo>
                  <a:pt x="388" y="478"/>
                </a:lnTo>
                <a:cubicBezTo>
                  <a:pt x="394" y="478"/>
                  <a:pt x="399" y="474"/>
                  <a:pt x="399" y="470"/>
                </a:cubicBezTo>
                <a:lnTo>
                  <a:pt x="399" y="445"/>
                </a:lnTo>
                <a:cubicBezTo>
                  <a:pt x="399" y="436"/>
                  <a:pt x="406" y="429"/>
                  <a:pt x="415" y="429"/>
                </a:cubicBezTo>
                <a:cubicBezTo>
                  <a:pt x="424" y="429"/>
                  <a:pt x="431" y="436"/>
                  <a:pt x="431" y="445"/>
                </a:cubicBezTo>
                <a:lnTo>
                  <a:pt x="431" y="470"/>
                </a:lnTo>
                <a:cubicBezTo>
                  <a:pt x="431" y="492"/>
                  <a:pt x="412" y="510"/>
                  <a:pt x="388" y="510"/>
                </a:cubicBezTo>
                <a:close/>
                <a:moveTo>
                  <a:pt x="278" y="382"/>
                </a:moveTo>
                <a:lnTo>
                  <a:pt x="87" y="382"/>
                </a:lnTo>
                <a:cubicBezTo>
                  <a:pt x="78" y="382"/>
                  <a:pt x="71" y="375"/>
                  <a:pt x="71" y="366"/>
                </a:cubicBezTo>
                <a:cubicBezTo>
                  <a:pt x="71" y="357"/>
                  <a:pt x="78" y="350"/>
                  <a:pt x="87" y="350"/>
                </a:cubicBezTo>
                <a:lnTo>
                  <a:pt x="278" y="350"/>
                </a:lnTo>
                <a:cubicBezTo>
                  <a:pt x="287" y="350"/>
                  <a:pt x="294" y="357"/>
                  <a:pt x="294" y="366"/>
                </a:cubicBezTo>
                <a:cubicBezTo>
                  <a:pt x="294" y="375"/>
                  <a:pt x="287" y="382"/>
                  <a:pt x="278" y="382"/>
                </a:cubicBezTo>
                <a:close/>
                <a:moveTo>
                  <a:pt x="332" y="423"/>
                </a:moveTo>
                <a:cubicBezTo>
                  <a:pt x="329" y="423"/>
                  <a:pt x="326" y="422"/>
                  <a:pt x="324" y="421"/>
                </a:cubicBezTo>
                <a:cubicBezTo>
                  <a:pt x="316" y="416"/>
                  <a:pt x="313" y="407"/>
                  <a:pt x="318" y="399"/>
                </a:cubicBezTo>
                <a:lnTo>
                  <a:pt x="454" y="163"/>
                </a:lnTo>
                <a:cubicBezTo>
                  <a:pt x="458" y="155"/>
                  <a:pt x="468" y="153"/>
                  <a:pt x="476" y="157"/>
                </a:cubicBezTo>
                <a:cubicBezTo>
                  <a:pt x="483" y="162"/>
                  <a:pt x="486" y="171"/>
                  <a:pt x="482" y="179"/>
                </a:cubicBezTo>
                <a:lnTo>
                  <a:pt x="346" y="415"/>
                </a:lnTo>
                <a:cubicBezTo>
                  <a:pt x="343" y="420"/>
                  <a:pt x="337" y="423"/>
                  <a:pt x="332" y="423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  <a:miter lim="800000"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320165" y="1816735"/>
            <a:ext cx="4464000" cy="4354830"/>
          </a:xfrm>
          <a:prstGeom prst="roundRect">
            <a:avLst>
              <a:gd name="adj" fmla="val 2258"/>
            </a:avLst>
          </a:prstGeom>
          <a:noFill/>
          <a:ln w="25400">
            <a:solidFill>
              <a:schemeClr val="accent1"/>
            </a:solidFill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126106" y="1390650"/>
            <a:ext cx="890270" cy="890270"/>
          </a:xfrm>
          <a:prstGeom prst="ellipse">
            <a:avLst/>
          </a:prstGeom>
          <a:solidFill>
            <a:schemeClr val="accent1">
              <a:alpha val="15000"/>
            </a:schemeClr>
          </a:solidFill>
          <a:ln>
            <a:noFill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3156268" y="1390015"/>
            <a:ext cx="829945" cy="82994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3431858" y="1643167"/>
            <a:ext cx="278766" cy="323642"/>
          </a:xfrm>
          <a:custGeom>
            <a:avLst/>
            <a:gdLst/>
            <a:ahLst/>
            <a:cxnLst/>
            <a:rect l="l" t="t" r="r" b="b"/>
            <a:pathLst>
              <a:path w="439" h="510">
                <a:moveTo>
                  <a:pt x="219" y="423"/>
                </a:moveTo>
                <a:cubicBezTo>
                  <a:pt x="210" y="423"/>
                  <a:pt x="200" y="420"/>
                  <a:pt x="192" y="413"/>
                </a:cubicBezTo>
                <a:lnTo>
                  <a:pt x="6" y="266"/>
                </a:lnTo>
                <a:cubicBezTo>
                  <a:pt x="-1" y="261"/>
                  <a:pt x="-2" y="252"/>
                  <a:pt x="3" y="245"/>
                </a:cubicBezTo>
                <a:cubicBezTo>
                  <a:pt x="8" y="239"/>
                  <a:pt x="17" y="238"/>
                  <a:pt x="24" y="243"/>
                </a:cubicBezTo>
                <a:lnTo>
                  <a:pt x="211" y="391"/>
                </a:lnTo>
                <a:cubicBezTo>
                  <a:pt x="216" y="395"/>
                  <a:pt x="223" y="395"/>
                  <a:pt x="228" y="391"/>
                </a:cubicBezTo>
                <a:lnTo>
                  <a:pt x="415" y="243"/>
                </a:lnTo>
                <a:cubicBezTo>
                  <a:pt x="422" y="238"/>
                  <a:pt x="431" y="239"/>
                  <a:pt x="436" y="245"/>
                </a:cubicBezTo>
                <a:cubicBezTo>
                  <a:pt x="441" y="252"/>
                  <a:pt x="440" y="261"/>
                  <a:pt x="433" y="266"/>
                </a:cubicBezTo>
                <a:lnTo>
                  <a:pt x="246" y="413"/>
                </a:lnTo>
                <a:cubicBezTo>
                  <a:pt x="238" y="420"/>
                  <a:pt x="229" y="423"/>
                  <a:pt x="219" y="423"/>
                </a:cubicBezTo>
                <a:close/>
                <a:moveTo>
                  <a:pt x="219" y="510"/>
                </a:moveTo>
                <a:cubicBezTo>
                  <a:pt x="210" y="510"/>
                  <a:pt x="200" y="507"/>
                  <a:pt x="192" y="500"/>
                </a:cubicBezTo>
                <a:lnTo>
                  <a:pt x="6" y="353"/>
                </a:lnTo>
                <a:cubicBezTo>
                  <a:pt x="-1" y="348"/>
                  <a:pt x="-2" y="339"/>
                  <a:pt x="3" y="332"/>
                </a:cubicBezTo>
                <a:cubicBezTo>
                  <a:pt x="8" y="326"/>
                  <a:pt x="17" y="325"/>
                  <a:pt x="24" y="330"/>
                </a:cubicBezTo>
                <a:lnTo>
                  <a:pt x="211" y="477"/>
                </a:lnTo>
                <a:cubicBezTo>
                  <a:pt x="216" y="482"/>
                  <a:pt x="223" y="482"/>
                  <a:pt x="228" y="477"/>
                </a:cubicBezTo>
                <a:lnTo>
                  <a:pt x="415" y="330"/>
                </a:lnTo>
                <a:cubicBezTo>
                  <a:pt x="422" y="325"/>
                  <a:pt x="431" y="326"/>
                  <a:pt x="436" y="332"/>
                </a:cubicBezTo>
                <a:cubicBezTo>
                  <a:pt x="441" y="339"/>
                  <a:pt x="440" y="348"/>
                  <a:pt x="433" y="353"/>
                </a:cubicBezTo>
                <a:lnTo>
                  <a:pt x="246" y="500"/>
                </a:lnTo>
                <a:cubicBezTo>
                  <a:pt x="238" y="507"/>
                  <a:pt x="229" y="510"/>
                  <a:pt x="219" y="510"/>
                </a:cubicBezTo>
                <a:close/>
                <a:moveTo>
                  <a:pt x="218" y="336"/>
                </a:moveTo>
                <a:cubicBezTo>
                  <a:pt x="209" y="336"/>
                  <a:pt x="199" y="333"/>
                  <a:pt x="192" y="327"/>
                </a:cubicBezTo>
                <a:lnTo>
                  <a:pt x="34" y="202"/>
                </a:lnTo>
                <a:cubicBezTo>
                  <a:pt x="23" y="194"/>
                  <a:pt x="17" y="181"/>
                  <a:pt x="17" y="168"/>
                </a:cubicBezTo>
                <a:cubicBezTo>
                  <a:pt x="17" y="154"/>
                  <a:pt x="23" y="142"/>
                  <a:pt x="34" y="134"/>
                </a:cubicBezTo>
                <a:lnTo>
                  <a:pt x="192" y="9"/>
                </a:lnTo>
                <a:cubicBezTo>
                  <a:pt x="207" y="-3"/>
                  <a:pt x="230" y="-3"/>
                  <a:pt x="245" y="9"/>
                </a:cubicBezTo>
                <a:lnTo>
                  <a:pt x="403" y="134"/>
                </a:lnTo>
                <a:cubicBezTo>
                  <a:pt x="414" y="142"/>
                  <a:pt x="420" y="154"/>
                  <a:pt x="420" y="168"/>
                </a:cubicBezTo>
                <a:cubicBezTo>
                  <a:pt x="420" y="181"/>
                  <a:pt x="414" y="194"/>
                  <a:pt x="403" y="202"/>
                </a:cubicBezTo>
                <a:lnTo>
                  <a:pt x="245" y="327"/>
                </a:lnTo>
                <a:cubicBezTo>
                  <a:pt x="238" y="333"/>
                  <a:pt x="228" y="336"/>
                  <a:pt x="218" y="336"/>
                </a:cubicBezTo>
                <a:close/>
                <a:moveTo>
                  <a:pt x="218" y="29"/>
                </a:moveTo>
                <a:cubicBezTo>
                  <a:pt x="215" y="29"/>
                  <a:pt x="212" y="30"/>
                  <a:pt x="210" y="32"/>
                </a:cubicBezTo>
                <a:lnTo>
                  <a:pt x="51" y="156"/>
                </a:lnTo>
                <a:cubicBezTo>
                  <a:pt x="48" y="159"/>
                  <a:pt x="46" y="163"/>
                  <a:pt x="46" y="168"/>
                </a:cubicBezTo>
                <a:cubicBezTo>
                  <a:pt x="46" y="172"/>
                  <a:pt x="48" y="177"/>
                  <a:pt x="51" y="179"/>
                </a:cubicBezTo>
                <a:lnTo>
                  <a:pt x="210" y="304"/>
                </a:lnTo>
                <a:cubicBezTo>
                  <a:pt x="215" y="308"/>
                  <a:pt x="222" y="308"/>
                  <a:pt x="227" y="304"/>
                </a:cubicBezTo>
                <a:lnTo>
                  <a:pt x="385" y="179"/>
                </a:lnTo>
                <a:cubicBezTo>
                  <a:pt x="389" y="176"/>
                  <a:pt x="391" y="172"/>
                  <a:pt x="391" y="168"/>
                </a:cubicBezTo>
                <a:cubicBezTo>
                  <a:pt x="391" y="163"/>
                  <a:pt x="389" y="159"/>
                  <a:pt x="385" y="156"/>
                </a:cubicBezTo>
                <a:lnTo>
                  <a:pt x="227" y="32"/>
                </a:lnTo>
                <a:cubicBezTo>
                  <a:pt x="225" y="30"/>
                  <a:pt x="222" y="29"/>
                  <a:pt x="218" y="29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  <a:miter lim="800000"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572165" y="3255010"/>
            <a:ext cx="3960000" cy="241808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ln/>
                <a:solidFill>
                  <a:schemeClr val="bg1"/>
                </a:solidFill>
                <a:latin typeface="思源黑体 Normal"/>
                <a:ea typeface="思源黑体 Normal"/>
              </a:rPr>
              <a:t>The database schema in Supabase includes tables for user data, nutrition logs, water intake, mental health assessments, predictions, streaks, and chat history.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628670" y="3255010"/>
            <a:ext cx="3960000" cy="241808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ln/>
                <a:solidFill>
                  <a:schemeClr val="bg1"/>
                </a:solidFill>
                <a:latin typeface="思源黑体 Normal"/>
                <a:ea typeface="思源黑体 Normal"/>
              </a:rPr>
              <a:t>Row Level Security ensures users can only access their own data, enhancing security and privacy.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72165" y="2442845"/>
            <a:ext cx="3960000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User Data and Logs Storage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628670" y="2442845"/>
            <a:ext cx="3960000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Row Level Security for Privacy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</p:sp>
      <p:sp>
        <p:nvSpPr>
          <p:cNvPr id="15" name="TextBox 1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Supabase Database Schema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7705" y="1285875"/>
            <a:ext cx="8056245" cy="5211445"/>
          </a:xfrm>
          <a:prstGeom prst="rect">
            <a:avLst/>
          </a:prstGeom>
          <a:solidFill>
            <a:schemeClr val="accent6">
              <a:alpha val="10000"/>
              <a:lumMod val="75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873124" y="2184718"/>
            <a:ext cx="7508876" cy="3413760"/>
            <a:chOff x="1805" y="3251"/>
            <a:chExt cx="7936" cy="5376"/>
          </a:xfrm>
        </p:grpSpPr>
        <p:sp>
          <p:nvSpPr>
            <p:cNvPr id="5" name="TextBox 5"/>
            <p:cNvSpPr txBox="1"/>
            <p:nvPr/>
          </p:nvSpPr>
          <p:spPr>
            <a:xfrm>
              <a:off x="1805" y="4101"/>
              <a:ext cx="7937" cy="4526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2000" b="0" i="0" u="none" baseline="0" dirty="0">
                  <a:solidFill>
                    <a:schemeClr val="tx1"/>
                  </a:solidFill>
                  <a:latin typeface="思源黑体 Normal"/>
                  <a:ea typeface="思源黑体 Normal"/>
                </a:rPr>
                <a:t>During development, challenges like silent failures when adding food entries and data type mismatches were addressed through iterative debugging.</a:t>
              </a:r>
              <a:endParaRPr lang="en-US" sz="2000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805" y="3251"/>
              <a:ext cx="7937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chemeClr val="accent6">
                      <a:lumMod val="75000"/>
                    </a:schemeClr>
                  </a:solidFill>
                  <a:latin typeface="思源黑体 Normal"/>
                  <a:ea typeface="思源黑体 Normal"/>
                </a:rPr>
                <a:t>Silent Failures and Data Type Mismatches</a:t>
              </a:r>
              <a:endParaRPr lang="en-US" sz="2000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Technical Challenges and Solutions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95960" y="1483840"/>
            <a:ext cx="5147186" cy="247689"/>
          </a:xfrm>
          <a:prstGeom prst="rect">
            <a:avLst/>
          </a:prstGeom>
          <a:solidFill>
            <a:srgbClr val="0DA2FE"/>
          </a:solidFill>
          <a:ln>
            <a:noFill/>
          </a:ln>
          <a:effectLst>
            <a:outerShdw blurRad="254000" dist="101600" dir="2700000" algn="tl" rotWithShape="0">
              <a:schemeClr val="bg1">
                <a:alpha val="40000"/>
                <a:lumMod val="75000"/>
              </a:schemeClr>
            </a:outerShdw>
          </a:effectLst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95960" y="1731010"/>
            <a:ext cx="5147310" cy="4511040"/>
          </a:xfrm>
          <a:prstGeom prst="rect">
            <a:avLst/>
          </a:prstGeom>
          <a:solidFill>
            <a:srgbClr val="0DA2FE">
              <a:alpha val="5000"/>
            </a:srgbClr>
          </a:solidFill>
          <a:ln>
            <a:noFill/>
          </a:ln>
          <a:effectLst>
            <a:outerShdw blurRad="254000" dist="101600" dir="2700000" algn="tl" rotWithShape="0">
              <a:schemeClr val="tx1">
                <a:alpha val="15000"/>
                <a:lumMod val="75000"/>
                <a:lumOff val="25000"/>
              </a:schemeClr>
            </a:outerShdw>
          </a:effectLst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348856" y="1494613"/>
            <a:ext cx="5147186" cy="247689"/>
          </a:xfrm>
          <a:prstGeom prst="rect">
            <a:avLst/>
          </a:prstGeom>
          <a:solidFill>
            <a:srgbClr val="0DA2FE"/>
          </a:solidFill>
          <a:ln>
            <a:noFill/>
          </a:ln>
          <a:effectLst>
            <a:outerShdw blurRad="254000" dist="101600" dir="2700000" algn="tl" rotWithShape="0">
              <a:schemeClr val="bg1">
                <a:alpha val="40000"/>
                <a:lumMod val="75000"/>
              </a:schemeClr>
            </a:outerShdw>
          </a:effectLst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348730" y="1731645"/>
            <a:ext cx="5147310" cy="4521200"/>
          </a:xfrm>
          <a:prstGeom prst="rect">
            <a:avLst/>
          </a:prstGeom>
          <a:solidFill>
            <a:schemeClr val="tx2">
              <a:alpha val="5000"/>
              <a:lumMod val="40000"/>
              <a:lumOff val="60000"/>
            </a:schemeClr>
          </a:solidFill>
          <a:ln>
            <a:noFill/>
          </a:ln>
          <a:effectLst>
            <a:outerShdw blurRad="254000" dist="101600" dir="2700000" algn="tl" rotWithShape="0">
              <a:schemeClr val="tx1">
                <a:alpha val="15000"/>
                <a:lumMod val="75000"/>
                <a:lumOff val="25000"/>
              </a:schemeClr>
            </a:outerShdw>
          </a:effectLst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109250" y="3051737"/>
            <a:ext cx="4319905" cy="252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The authentication flow uses Supabase for password hashing, JWT tokens for session management, and CORS policy to restrict access.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942360" y="3051737"/>
            <a:ext cx="3960000" cy="252000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chemeClr val="bg1"/>
                </a:solidFill>
                <a:latin typeface="思源黑体 Normal"/>
                <a:ea typeface="思源黑体 Normal"/>
              </a:rPr>
              <a:t>Row Level Security is a crucial mechanism for ensuring user data privacy and security.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42360" y="2176145"/>
            <a:ext cx="4320000" cy="792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Row Level Security Implementation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109250" y="2176145"/>
            <a:ext cx="4320000" cy="792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Authentication Flow with Supabase</a:t>
            </a:r>
            <a:endParaRPr lang="en-US" sz="1100"/>
          </a:p>
        </p:txBody>
      </p:sp>
      <p:sp>
        <p:nvSpPr>
          <p:cNvPr id="10" name="Freeform 10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</p:sp>
      <p:sp>
        <p:nvSpPr>
          <p:cNvPr id="11" name="TextBox 11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Security and Authentication Measures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14520" y="2932430"/>
            <a:ext cx="6370320" cy="18262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1">
            <a:normAutofit/>
          </a:bodyPr>
          <a:lstStyle/>
          <a:p>
            <a:pPr marL="0" indent="0" algn="l" fontAlgn="auto">
              <a:lnSpc>
                <a:spcPct val="108000"/>
              </a:lnSpc>
              <a:defRPr/>
            </a:pPr>
            <a:r>
              <a:rPr lang="en-US" sz="4800" b="0" i="0" u="none" baseline="0">
                <a:solidFill>
                  <a:schemeClr val="bg2"/>
                </a:solidFill>
                <a:latin typeface="思源黑体 Medium"/>
                <a:ea typeface="思源黑体 Medium"/>
              </a:rPr>
              <a:t>Live Demo Plan and Future Scope</a:t>
            </a:r>
            <a:endParaRPr lang="en-US" sz="1100"/>
          </a:p>
        </p:txBody>
      </p:sp>
      <p:sp>
        <p:nvSpPr>
          <p:cNvPr id="3" name="TextBox 3"/>
          <p:cNvSpPr txBox="1"/>
          <p:nvPr/>
        </p:nvSpPr>
        <p:spPr>
          <a:xfrm>
            <a:off x="5504815" y="1727200"/>
            <a:ext cx="4189730" cy="14090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algn="ctr">
              <a:defRPr/>
            </a:pPr>
            <a:r>
              <a:rPr lang="en-US" sz="6600" b="0" i="0" u="none" baseline="0">
                <a:solidFill>
                  <a:schemeClr val="bg2"/>
                </a:solidFill>
                <a:latin typeface="思源黑体 Medium"/>
                <a:ea typeface="思源黑体 Medium"/>
              </a:rPr>
              <a:t>-05-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85165" y="1149350"/>
            <a:ext cx="3568065" cy="3641090"/>
          </a:xfrm>
          <a:prstGeom prst="parallelogram">
            <a:avLst>
              <a:gd name="adj" fmla="val 17860"/>
            </a:avLst>
          </a:prstGeom>
          <a:solidFill>
            <a:schemeClr val="accent1">
              <a:alpha val="50000"/>
              <a:lumMod val="40000"/>
              <a:lumOff val="60000"/>
            </a:schemeClr>
          </a:solidFill>
          <a:ln>
            <a:noFill/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Live Demonstration of Key Features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</p:sp>
      <p:sp>
        <p:nvSpPr>
          <p:cNvPr id="6" name="TextBox 6"/>
          <p:cNvSpPr txBox="1"/>
          <p:nvPr/>
        </p:nvSpPr>
        <p:spPr>
          <a:xfrm>
            <a:off x="4757102" y="2325878"/>
            <a:ext cx="5039995" cy="287401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b="0" i="0" u="none" baseline="0" dirty="0">
                <a:solidFill>
                  <a:schemeClr val="tx1"/>
                </a:solidFill>
                <a:latin typeface="思源黑体 Normal"/>
                <a:ea typeface="思源黑体 Normal"/>
              </a:rPr>
              <a:t>The live demo will showcase the dashboard, calorie calculator, AI meal generation, food logging, water tracking, and streaks to provide an engaging look at functionality.</a:t>
            </a:r>
            <a:endParaRPr lang="en-US" dirty="0"/>
          </a:p>
        </p:txBody>
      </p:sp>
      <p:sp>
        <p:nvSpPr>
          <p:cNvPr id="7" name="TextBox 7"/>
          <p:cNvSpPr txBox="1"/>
          <p:nvPr/>
        </p:nvSpPr>
        <p:spPr>
          <a:xfrm>
            <a:off x="4572000" y="1676400"/>
            <a:ext cx="5410200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400" b="1" i="0" u="none" baseline="0" dirty="0"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Dashboard and Core Module Showcase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chemeClr val="accent6">
                    <a:lumMod val="75000"/>
                  </a:schemeClr>
                </a:solidFill>
                <a:latin typeface="思源黑体 Normal"/>
                <a:ea typeface="思源黑体 Normal"/>
              </a:rPr>
              <a:t>Future Enhancements and Conclusion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</p:spPr>
      </p:sp>
      <p:grpSp>
        <p:nvGrpSpPr>
          <p:cNvPr id="5" name="Group 5"/>
          <p:cNvGrpSpPr/>
          <p:nvPr/>
        </p:nvGrpSpPr>
        <p:grpSpPr>
          <a:xfrm>
            <a:off x="685165" y="1434816"/>
            <a:ext cx="6076950" cy="4888230"/>
            <a:chOff x="1079" y="2205"/>
            <a:chExt cx="9570" cy="7698"/>
          </a:xfrm>
        </p:grpSpPr>
        <p:grpSp>
          <p:nvGrpSpPr>
            <p:cNvPr id="6" name="Group 6"/>
            <p:cNvGrpSpPr/>
            <p:nvPr/>
          </p:nvGrpSpPr>
          <p:grpSpPr>
            <a:xfrm>
              <a:off x="1079" y="6223"/>
              <a:ext cx="9524" cy="3681"/>
              <a:chOff x="1079" y="6223"/>
              <a:chExt cx="9524" cy="3681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1079" y="7070"/>
                <a:ext cx="9524" cy="2835"/>
              </a:xfrm>
              <a:prstGeom prst="rect">
                <a:avLst/>
              </a:prstGeom>
            </p:spPr>
            <p:txBody>
              <a:bodyPr vert="horz" wrap="square" lIns="90170" tIns="46990" rIns="90170" bIns="46990" rtlCol="0" anchor="t">
                <a:normAutofit/>
              </a:bodyPr>
              <a:lstStyle/>
              <a:p>
                <a:pPr marL="0" indent="0" algn="just" fontAlgn="auto">
                  <a:lnSpc>
                    <a:spcPct val="150000"/>
                  </a:lnSpc>
                  <a:defRPr/>
                </a:pPr>
                <a:r>
                  <a:rPr lang="en-US" sz="1500" b="0" i="0" u="none" baseline="0">
                    <a:solidFill>
                      <a:schemeClr val="bg1"/>
                    </a:solidFill>
                    <a:latin typeface="思源黑体 Normal"/>
                    <a:ea typeface="思源黑体 Normal"/>
                  </a:rPr>
                  <a:t>The Smart Health Analyzer is committed to accuracy and accessibility in health technology, focusing on reliable data and user-friendly design.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79" y="6223"/>
                <a:ext cx="9524" cy="850"/>
              </a:xfrm>
              <a:prstGeom prst="rect">
                <a:avLst/>
              </a:prstGeom>
              <a:noFill/>
            </p:spPr>
            <p:txBody>
              <a:bodyPr vert="horz" wrap="square" lIns="90170" tIns="46990" rIns="90170" bIns="46990" rtlCol="0" anchor="ctr">
                <a:normAutofit/>
              </a:bodyPr>
              <a:lstStyle/>
              <a:p>
                <a:pPr marL="0" indent="0" algn="l" fontAlgn="auto">
                  <a:lnSpc>
                    <a:spcPct val="100000"/>
                  </a:lnSpc>
                  <a:defRPr/>
                </a:pPr>
                <a:r>
                  <a:rPr lang="en-US" sz="2000" b="1" i="0" u="none" baseline="0">
                    <a:solidFill>
                      <a:srgbClr val="0DA2FE"/>
                    </a:solidFill>
                    <a:latin typeface="思源黑体 Normal"/>
                    <a:ea typeface="思源黑体 Normal"/>
                  </a:rPr>
                  <a:t>Commitment to Accuracy and Accessibility</a:t>
                </a:r>
                <a:endParaRPr lang="en-US" sz="1100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125" y="3055"/>
              <a:ext cx="9524" cy="2835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500" b="0" i="0" u="none" baseline="0">
                  <a:solidFill>
                    <a:schemeClr val="bg1"/>
                  </a:solidFill>
                  <a:latin typeface="思源黑体 Normal"/>
                  <a:ea typeface="思源黑体 Normal"/>
                </a:rPr>
                <a:t>Future enhancements include a mobile application, AI food recognition, wearable integrations, advanced analytics, and multi-language support.</a:t>
              </a:r>
              <a:endParaRPr lang="en-US" sz="110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" y="2205"/>
              <a:ext cx="9524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00000"/>
                </a:lnSpc>
                <a:defRPr/>
              </a:pPr>
              <a:r>
                <a:rPr lang="en-US" sz="2000" b="1" i="0" u="none" baseline="0">
                  <a:solidFill>
                    <a:srgbClr val="0DA2FE"/>
                  </a:solidFill>
                  <a:latin typeface="思源黑体 Normal"/>
                  <a:ea typeface="思源黑体 Normal"/>
                </a:rPr>
                <a:t>Planned Mobile and AI Integrations</a:t>
              </a:r>
              <a:endParaRPr lang="en-US" sz="1100"/>
            </a:p>
          </p:txBody>
        </p:sp>
      </p:grpSp>
    </p:spTree>
  </p:cSld>
  <p:clrMapOvr>
    <a:masterClrMapping/>
  </p:clrMapOvr>
  <p:transition advClick="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169990" y="1767767"/>
            <a:ext cx="8043683" cy="2750234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noAutofit/>
          </a:bodyPr>
          <a:lstStyle/>
          <a:p>
            <a:pPr marL="0" algn="dist">
              <a:defRPr/>
            </a:pPr>
            <a:r>
              <a:rPr lang="zh-CN" altLang="en-US" sz="8800" b="1" i="0" u="none" spc="500" baseline="0" dirty="0">
                <a:solidFill>
                  <a:schemeClr val="tx1"/>
                </a:solidFill>
                <a:latin typeface="思源黑体 CN Medium"/>
                <a:ea typeface="思源黑体 CN Medium"/>
              </a:rPr>
              <a:t>Thank you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6514288" y="4149701"/>
            <a:ext cx="2699385" cy="368300"/>
          </a:xfrm>
          <a:prstGeom prst="rect">
            <a:avLst/>
          </a:prstGeom>
          <a:grpFill/>
          <a:ln>
            <a:noFill/>
          </a:ln>
        </p:spPr>
        <p:txBody>
          <a:bodyPr vert="horz" wrap="square" lIns="91440" tIns="45720" rIns="91440" bIns="45720" anchor="t">
            <a:spAutoFit/>
          </a:bodyPr>
          <a:lstStyle/>
          <a:p>
            <a:pPr marL="0" algn="l"/>
            <a:endParaRPr lang="en-US" sz="1800" b="0" i="0" u="none" baseline="0" dirty="0">
              <a:solidFill>
                <a:schemeClr val="bg1"/>
              </a:solidFill>
              <a:latin typeface="思源黑体 CN Normal"/>
              <a:ea typeface="思源黑体 CN Normal"/>
            </a:endParaRPr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Office Theme">
  <a:themeElements>
    <a:clrScheme name="Office">
      <a:dk1>
        <a:srgbClr val="FFFFFF"/>
      </a:dk1>
      <a:lt1>
        <a:srgbClr val="F2F2F2"/>
      </a:lt1>
      <a:dk2>
        <a:srgbClr val="FFFFFF"/>
      </a:dk2>
      <a:lt2>
        <a:srgbClr val="FFFFFF"/>
      </a:lt2>
      <a:accent1>
        <a:srgbClr val="0DA2FE"/>
      </a:accent1>
      <a:accent2>
        <a:srgbClr val="0DA2FE"/>
      </a:accent2>
      <a:accent3>
        <a:srgbClr val="0DA2FE"/>
      </a:accent3>
      <a:accent4>
        <a:srgbClr val="0DA2FE"/>
      </a:accent4>
      <a:accent5>
        <a:srgbClr val="0DA2FE"/>
      </a:accent5>
      <a:accent6>
        <a:srgbClr val="4EC5FC"/>
      </a:accent6>
      <a:hlink>
        <a:srgbClr val="FFFFFF"/>
      </a:hlink>
      <a:folHlink>
        <a:srgbClr val="FFFFFF"/>
      </a:folHlink>
    </a:clrScheme>
    <a:fontScheme name="Office">
      <a:majorFont>
        <a:latin typeface="思源黑体 Medium"/>
        <a:ea typeface="思源黑体 Medium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思源黑体 Medium"/>
        <a:ea typeface="思源黑体 Medium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1117</Words>
  <Application>Microsoft Office PowerPoint</Application>
  <PresentationFormat>Widescreen</PresentationFormat>
  <Paragraphs>113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Microsoft YaHei</vt:lpstr>
      <vt:lpstr>Arial</vt:lpstr>
      <vt:lpstr>Roboto</vt:lpstr>
      <vt:lpstr>思源宋体 CN Light</vt:lpstr>
      <vt:lpstr>思源黑体 CN Medium</vt:lpstr>
      <vt:lpstr>思源黑体 CN Normal</vt:lpstr>
      <vt:lpstr>思源黑体 Medium</vt:lpstr>
      <vt:lpstr>思源黑体 Normal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YOGI PANCHAL</dc:creator>
  <cp:lastModifiedBy>YOGI_ 24DCE082</cp:lastModifiedBy>
  <cp:revision>5</cp:revision>
  <dcterms:created xsi:type="dcterms:W3CDTF">2026-04-07T17:32:25Z</dcterms:created>
  <dcterms:modified xsi:type="dcterms:W3CDTF">2026-04-07T17:55:25Z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">
    <vt:lpwstr>https://docmee.cn</vt:lpwstr>
  </property>
  <property fmtid="{D5CDD505-2E9C-101B-9397-08002B2CF9AE}" pid="3" name="developer">
    <vt:lpwstr>https://github.com/veasion</vt:lpwstr>
  </property>
  <property fmtid="{D5CDD505-2E9C-101B-9397-08002B2CF9AE}" pid="4" name="AIGC">
    <vt:lpwstr>{"ContentPropagator":"文多多","Label":"1","ReservedCode1":"1775583145873","ProduceID":"wenduoduo-pptx-1775583145873","ReservedCode2":"1775583145873","PropagateID":"wenduoduo-pptx1775583145873","ContentProducer":"文多多"}</vt:lpwstr>
  </property>
</Properties>
</file>